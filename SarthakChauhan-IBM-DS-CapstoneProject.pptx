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46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2929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2929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87239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2630" y="297815"/>
            <a:ext cx="10106660" cy="1071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0A48CA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9312" y="1359860"/>
            <a:ext cx="10305415" cy="343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292929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91291" y="6113199"/>
            <a:ext cx="336550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1C7CDB"/>
                </a:solidFill>
                <a:latin typeface="Microsoft Sans Serif"/>
                <a:cs typeface="Microsoft Sans Serif"/>
              </a:defRPr>
            </a:lvl1pPr>
          </a:lstStyle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‹#›</a:t>
            </a:fld>
            <a:endParaRPr spc="3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jpg"/><Relationship Id="rId21" Type="http://schemas.openxmlformats.org/officeDocument/2006/relationships/image" Target="../media/image29.jp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jpg"/><Relationship Id="rId25" Type="http://schemas.openxmlformats.org/officeDocument/2006/relationships/image" Target="../media/image33.jpg"/><Relationship Id="rId2" Type="http://schemas.openxmlformats.org/officeDocument/2006/relationships/image" Target="../media/image10.jpg"/><Relationship Id="rId16" Type="http://schemas.openxmlformats.org/officeDocument/2006/relationships/image" Target="../media/image24.jp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g"/><Relationship Id="rId11" Type="http://schemas.openxmlformats.org/officeDocument/2006/relationships/image" Target="../media/image19.jpg"/><Relationship Id="rId24" Type="http://schemas.openxmlformats.org/officeDocument/2006/relationships/image" Target="../media/image32.jp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jpg"/><Relationship Id="rId9" Type="http://schemas.openxmlformats.org/officeDocument/2006/relationships/image" Target="../media/image17.jpg"/><Relationship Id="rId14" Type="http://schemas.openxmlformats.org/officeDocument/2006/relationships/image" Target="../media/image22.jpg"/><Relationship Id="rId22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9327" y="4912677"/>
            <a:ext cx="2137410" cy="56470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lang="en-IN" sz="1800" spc="-120" dirty="0">
                <a:solidFill>
                  <a:srgbClr val="E7E6E6"/>
                </a:solidFill>
                <a:latin typeface="Microsoft Sans Serif"/>
                <a:cs typeface="Microsoft Sans Serif"/>
              </a:rPr>
              <a:t>Sarthak Chauhan</a:t>
            </a:r>
          </a:p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lang="en-IN" spc="-120" dirty="0">
                <a:solidFill>
                  <a:srgbClr val="E7E6E6"/>
                </a:solidFill>
                <a:latin typeface="Microsoft Sans Serif"/>
                <a:cs typeface="Microsoft Sans Serif"/>
              </a:rPr>
              <a:t>March</a:t>
            </a:r>
            <a:r>
              <a:rPr sz="1800" spc="75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lang="en-IN" spc="75" dirty="0">
                <a:solidFill>
                  <a:srgbClr val="E7E6E6"/>
                </a:solidFill>
                <a:latin typeface="Microsoft Sans Serif"/>
                <a:cs typeface="Microsoft Sans Serif"/>
              </a:rPr>
              <a:t>06</a:t>
            </a:r>
            <a:r>
              <a:rPr sz="1800" dirty="0">
                <a:solidFill>
                  <a:srgbClr val="E7E6E6"/>
                </a:solidFill>
                <a:latin typeface="Microsoft Sans Serif"/>
                <a:cs typeface="Microsoft Sans Serif"/>
              </a:rPr>
              <a:t>,</a:t>
            </a:r>
            <a:r>
              <a:rPr sz="1800" spc="75" dirty="0">
                <a:solidFill>
                  <a:srgbClr val="E7E6E6"/>
                </a:solidFill>
                <a:latin typeface="Microsoft Sans Serif"/>
                <a:cs typeface="Microsoft Sans Serif"/>
              </a:rPr>
              <a:t> </a:t>
            </a:r>
            <a:r>
              <a:rPr sz="1800" spc="45" dirty="0">
                <a:solidFill>
                  <a:srgbClr val="E7E6E6"/>
                </a:solidFill>
                <a:latin typeface="Microsoft Sans Serif"/>
                <a:cs typeface="Microsoft Sans Serif"/>
              </a:rPr>
              <a:t>202</a:t>
            </a:r>
            <a:r>
              <a:rPr lang="en-IN" sz="1800" spc="45" dirty="0">
                <a:solidFill>
                  <a:srgbClr val="E7E6E6"/>
                </a:solidFill>
                <a:latin typeface="Microsoft Sans Serif"/>
                <a:cs typeface="Microsoft Sans Serif"/>
              </a:rPr>
              <a:t>5</a:t>
            </a:r>
            <a:endParaRPr sz="180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825" y="676275"/>
            <a:ext cx="2105025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38865" y="6090602"/>
            <a:ext cx="1466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5" dirty="0">
                <a:solidFill>
                  <a:srgbClr val="1C7CDB"/>
                </a:solidFill>
                <a:latin typeface="Microsoft Sans Serif"/>
                <a:cs typeface="Microsoft Sans Serif"/>
              </a:rPr>
              <a:t>2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8225" y="1965188"/>
            <a:ext cx="2540635" cy="309816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0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Executive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Introduction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Conclusion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8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Appendix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35" dirty="0"/>
              <a:t>Outline</a:t>
            </a:r>
            <a:endParaRPr sz="36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38865" y="6397942"/>
            <a:ext cx="1466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5" dirty="0">
                <a:solidFill>
                  <a:srgbClr val="1C7CDB"/>
                </a:solidFill>
                <a:latin typeface="Microsoft Sans Serif"/>
                <a:cs typeface="Microsoft Sans Serif"/>
              </a:rPr>
              <a:t>3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1309118"/>
            <a:ext cx="5255260" cy="477139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r>
              <a:rPr sz="20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methodologies</a:t>
            </a:r>
            <a:endParaRPr sz="20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055"/>
              </a:spcBef>
              <a:buChar char="-"/>
              <a:tabLst>
                <a:tab pos="699135" algn="l"/>
              </a:tabLst>
            </a:pP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17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through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960"/>
              </a:spcBef>
              <a:buChar char="-"/>
              <a:tabLst>
                <a:tab pos="699135" algn="l"/>
              </a:tabLst>
            </a:pP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7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Web</a:t>
            </a:r>
            <a:r>
              <a:rPr sz="17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Scraping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965"/>
              </a:spcBef>
              <a:buChar char="-"/>
              <a:tabLst>
                <a:tab pos="699135" algn="l"/>
              </a:tabLst>
            </a:pP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7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040"/>
              </a:spcBef>
              <a:buChar char="-"/>
              <a:tabLst>
                <a:tab pos="699135" algn="l"/>
              </a:tabLst>
            </a:pP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Analysis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965"/>
              </a:spcBef>
              <a:buChar char="-"/>
              <a:tabLst>
                <a:tab pos="699135" algn="l"/>
              </a:tabLst>
            </a:pP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170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17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7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Visualization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040"/>
              </a:spcBef>
              <a:buChar char="-"/>
              <a:tabLst>
                <a:tab pos="699135" algn="l"/>
              </a:tabLst>
            </a:pP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17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17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7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965"/>
              </a:spcBef>
              <a:buChar char="-"/>
              <a:tabLst>
                <a:tab pos="699135" algn="l"/>
              </a:tabLst>
            </a:pP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Learning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Prediction</a:t>
            </a:r>
            <a:endParaRPr sz="17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89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Summary</a:t>
            </a:r>
            <a:r>
              <a:rPr sz="20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0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20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0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050"/>
              </a:spcBef>
              <a:buChar char="-"/>
              <a:tabLst>
                <a:tab pos="699135" algn="l"/>
              </a:tabLst>
            </a:pP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170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7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970"/>
              </a:spcBef>
              <a:buChar char="-"/>
              <a:tabLst>
                <a:tab pos="699135" algn="l"/>
              </a:tabLst>
            </a:pP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170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17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7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screenshots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040"/>
              </a:spcBef>
              <a:buChar char="-"/>
              <a:tabLst>
                <a:tab pos="699135" algn="l"/>
              </a:tabLst>
            </a:pP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</a:t>
            </a:r>
            <a:r>
              <a:rPr sz="17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17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8792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10" dirty="0"/>
              <a:t>Executive</a:t>
            </a:r>
            <a:r>
              <a:rPr sz="3650" spc="-90" dirty="0"/>
              <a:t> </a:t>
            </a:r>
            <a:r>
              <a:rPr sz="3650" spc="-140" dirty="0"/>
              <a:t>Summary</a:t>
            </a:r>
            <a:endParaRPr sz="36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7414" y="420624"/>
            <a:ext cx="244665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0" dirty="0"/>
              <a:t>Introduction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907414" y="1332094"/>
            <a:ext cx="10478135" cy="5024755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9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Project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background</a:t>
            </a:r>
            <a:r>
              <a:rPr sz="215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context</a:t>
            </a:r>
            <a:endParaRPr sz="2150">
              <a:latin typeface="Microsoft Sans Serif"/>
              <a:cs typeface="Microsoft Sans Serif"/>
            </a:endParaRPr>
          </a:p>
          <a:p>
            <a:pPr marL="469900" marR="865505" algn="just">
              <a:lnSpc>
                <a:spcPct val="90400"/>
              </a:lnSpc>
              <a:spcBef>
                <a:spcPts val="1425"/>
              </a:spcBef>
            </a:pPr>
            <a:r>
              <a:rPr sz="180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X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advertises</a:t>
            </a:r>
            <a:r>
              <a:rPr sz="18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9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18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website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</a:t>
            </a:r>
            <a:r>
              <a:rPr sz="18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62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million</a:t>
            </a:r>
            <a:r>
              <a:rPr sz="180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dollars;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other</a:t>
            </a:r>
            <a:r>
              <a:rPr sz="1800" spc="1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providers</a:t>
            </a:r>
            <a:r>
              <a:rPr sz="1800" spc="1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</a:t>
            </a:r>
            <a:r>
              <a:rPr sz="1800" spc="1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upward</a:t>
            </a:r>
            <a:r>
              <a:rPr sz="1800" spc="1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1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165</a:t>
            </a:r>
            <a:r>
              <a:rPr sz="1800" spc="1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million</a:t>
            </a:r>
            <a:r>
              <a:rPr sz="1800" spc="1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dollars</a:t>
            </a:r>
            <a:r>
              <a:rPr sz="1800" spc="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each,</a:t>
            </a:r>
            <a:r>
              <a:rPr sz="1800" spc="1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much</a:t>
            </a:r>
            <a:r>
              <a:rPr sz="1800" spc="1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1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savings</a:t>
            </a:r>
            <a:r>
              <a:rPr sz="180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1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because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X</a:t>
            </a:r>
            <a:r>
              <a:rPr sz="180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sz="18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reuse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stage.</a:t>
            </a:r>
            <a:r>
              <a:rPr sz="18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Therefore,</a:t>
            </a:r>
            <a:r>
              <a:rPr sz="180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if</a:t>
            </a:r>
            <a:r>
              <a:rPr sz="18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80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sz="180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determine</a:t>
            </a:r>
            <a:r>
              <a:rPr sz="180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if</a:t>
            </a:r>
            <a:r>
              <a:rPr sz="18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80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80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80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land,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determine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cost of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launch.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information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 be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180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if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an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alternate</a:t>
            </a:r>
            <a:r>
              <a:rPr sz="180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company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wants</a:t>
            </a:r>
            <a:r>
              <a:rPr sz="1800" spc="2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1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bid</a:t>
            </a:r>
            <a:r>
              <a:rPr sz="1800" spc="2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against</a:t>
            </a:r>
            <a:r>
              <a:rPr sz="1800" spc="22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</a:t>
            </a:r>
            <a:r>
              <a:rPr sz="1800" spc="2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X</a:t>
            </a:r>
            <a:r>
              <a:rPr sz="1800" spc="2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2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8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launch.</a:t>
            </a:r>
            <a:r>
              <a:rPr sz="1800" spc="20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This</a:t>
            </a:r>
            <a:r>
              <a:rPr sz="1800" spc="1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goal</a:t>
            </a:r>
            <a:r>
              <a:rPr sz="1800" spc="1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2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1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project</a:t>
            </a:r>
            <a:r>
              <a:rPr sz="1800" spc="2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1800" spc="1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1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create</a:t>
            </a:r>
            <a:r>
              <a:rPr sz="1800" spc="1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sz="180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learning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pipeline</a:t>
            </a:r>
            <a:r>
              <a:rPr sz="180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if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first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stage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80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</a:t>
            </a:r>
            <a:r>
              <a:rPr sz="180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successfully.</a:t>
            </a:r>
            <a:endParaRPr sz="18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17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Problems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you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want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 find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answers</a:t>
            </a:r>
            <a:endParaRPr sz="2150">
              <a:latin typeface="Microsoft Sans Serif"/>
              <a:cs typeface="Microsoft Sans Serif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1225"/>
              </a:spcBef>
              <a:buChar char="-"/>
              <a:tabLst>
                <a:tab pos="697230" algn="l"/>
              </a:tabLst>
            </a:pP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What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factors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determine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if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rocket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will</a:t>
            </a:r>
            <a:r>
              <a:rPr sz="180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successfully?</a:t>
            </a:r>
            <a:endParaRPr sz="1800">
              <a:latin typeface="Microsoft Sans Serif"/>
              <a:cs typeface="Microsoft Sans Serif"/>
            </a:endParaRPr>
          </a:p>
          <a:p>
            <a:pPr marL="699135" marR="1189990" lvl="1" indent="-229235">
              <a:lnSpc>
                <a:spcPts val="1950"/>
              </a:lnSpc>
              <a:spcBef>
                <a:spcPts val="1385"/>
              </a:spcBef>
              <a:buChar char="-"/>
              <a:tabLst>
                <a:tab pos="699135" algn="l"/>
              </a:tabLst>
            </a:pPr>
            <a:r>
              <a:rPr sz="180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interaction</a:t>
            </a:r>
            <a:r>
              <a:rPr sz="180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amongst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various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features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determine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landing.</a:t>
            </a:r>
            <a:endParaRPr sz="1800">
              <a:latin typeface="Microsoft Sans Serif"/>
              <a:cs typeface="Microsoft Sans Serif"/>
            </a:endParaRPr>
          </a:p>
          <a:p>
            <a:pPr marL="697230" lvl="1" indent="-227329" algn="just">
              <a:lnSpc>
                <a:spcPct val="100000"/>
              </a:lnSpc>
              <a:spcBef>
                <a:spcPts val="1195"/>
              </a:spcBef>
              <a:buChar char="-"/>
              <a:tabLst>
                <a:tab pos="697230" algn="l"/>
              </a:tabLst>
            </a:pP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What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operating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conditions 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needs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 be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place</a:t>
            </a:r>
            <a:r>
              <a:rPr sz="180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0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ensure</a:t>
            </a:r>
            <a:r>
              <a:rPr sz="180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180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180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program.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R="5080" algn="r">
              <a:lnSpc>
                <a:spcPct val="100000"/>
              </a:lnSpc>
            </a:pPr>
            <a:r>
              <a:rPr sz="1550" spc="35" dirty="0">
                <a:solidFill>
                  <a:srgbClr val="1C7CDB"/>
                </a:solidFill>
                <a:latin typeface="Microsoft Sans Serif"/>
                <a:cs typeface="Microsoft Sans Serif"/>
              </a:rPr>
              <a:t>4</a:t>
            </a:r>
            <a:endParaRPr sz="1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973559" y="6403657"/>
            <a:ext cx="14668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35" dirty="0">
                <a:solidFill>
                  <a:srgbClr val="1C7CDB"/>
                </a:solidFill>
                <a:latin typeface="Microsoft Sans Serif"/>
                <a:cs typeface="Microsoft Sans Serif"/>
              </a:rPr>
              <a:t>5</a:t>
            </a:r>
            <a:endParaRPr sz="1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33266"/>
            <a:ext cx="8366125" cy="450088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2150" spc="-55" dirty="0">
                <a:solidFill>
                  <a:srgbClr val="0A48CA"/>
                </a:solidFill>
                <a:latin typeface="Microsoft Sans Serif"/>
                <a:cs typeface="Microsoft Sans Serif"/>
              </a:rPr>
              <a:t>Executive</a:t>
            </a:r>
            <a:r>
              <a:rPr sz="2150" spc="-50" dirty="0">
                <a:solidFill>
                  <a:srgbClr val="0A48CA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0A48CA"/>
                </a:solidFill>
                <a:latin typeface="Microsoft Sans Serif"/>
                <a:cs typeface="Microsoft Sans Serif"/>
              </a:rPr>
              <a:t>Summary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methodology:</a:t>
            </a:r>
            <a:endParaRPr sz="215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555"/>
              </a:spcBef>
              <a:buFont typeface="Arial MT"/>
              <a:buChar char="•"/>
              <a:tabLst>
                <a:tab pos="699135" algn="l"/>
              </a:tabLst>
            </a:pP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Data</a:t>
            </a:r>
            <a:r>
              <a:rPr sz="185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was</a:t>
            </a:r>
            <a:r>
              <a:rPr sz="185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collected</a:t>
            </a:r>
            <a:r>
              <a:rPr sz="185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using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95" dirty="0">
                <a:solidFill>
                  <a:srgbClr val="767070"/>
                </a:solidFill>
                <a:latin typeface="Microsoft Sans Serif"/>
                <a:cs typeface="Microsoft Sans Serif"/>
              </a:rPr>
              <a:t>SpaceX</a:t>
            </a:r>
            <a:r>
              <a:rPr sz="185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API</a:t>
            </a:r>
            <a:r>
              <a:rPr sz="1850" spc="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85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web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scraping</a:t>
            </a:r>
            <a:r>
              <a:rPr sz="185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from</a:t>
            </a:r>
            <a:r>
              <a:rPr sz="185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Wikipedia.</a:t>
            </a:r>
            <a:endParaRPr sz="18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38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endParaRPr sz="215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699135" algn="l"/>
              </a:tabLst>
            </a:pPr>
            <a:r>
              <a:rPr sz="185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One-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hot</a:t>
            </a:r>
            <a:r>
              <a:rPr sz="185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encoding</a:t>
            </a:r>
            <a:r>
              <a:rPr sz="1850" spc="8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was</a:t>
            </a:r>
            <a:r>
              <a:rPr sz="1850" spc="9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applied</a:t>
            </a:r>
            <a:r>
              <a:rPr sz="1850" spc="8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to</a:t>
            </a:r>
            <a:r>
              <a:rPr sz="1850" spc="10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categorical</a:t>
            </a:r>
            <a:r>
              <a:rPr sz="1850" spc="8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features</a:t>
            </a:r>
            <a:endParaRPr sz="18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15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15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(EDA)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visualization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215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Plotly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15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classification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endParaRPr sz="215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699135" algn="l"/>
              </a:tabLst>
            </a:pP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How</a:t>
            </a:r>
            <a:r>
              <a:rPr sz="1850" spc="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to</a:t>
            </a:r>
            <a:r>
              <a:rPr sz="1850" spc="7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build,</a:t>
            </a:r>
            <a:r>
              <a:rPr sz="1850" spc="8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767070"/>
                </a:solidFill>
                <a:latin typeface="Microsoft Sans Serif"/>
                <a:cs typeface="Microsoft Sans Serif"/>
              </a:rPr>
              <a:t>tune,</a:t>
            </a:r>
            <a:r>
              <a:rPr sz="185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evaluate</a:t>
            </a:r>
            <a:r>
              <a:rPr sz="1850" spc="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classification</a:t>
            </a:r>
            <a:r>
              <a:rPr sz="1850" spc="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models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6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6600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0" dirty="0"/>
              <a:t>Methodology</a:t>
            </a:r>
            <a:endParaRPr sz="3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428686"/>
            <a:ext cx="10070465" cy="3860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collected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various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methods</a:t>
            </a:r>
            <a:endParaRPr sz="215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75"/>
              </a:spcBef>
              <a:buChar char="-"/>
              <a:tabLst>
                <a:tab pos="699135" algn="l"/>
              </a:tabLst>
            </a:pP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18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collection</a:t>
            </a:r>
            <a:r>
              <a:rPr sz="18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18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done</a:t>
            </a:r>
            <a:r>
              <a:rPr sz="18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18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get</a:t>
            </a:r>
            <a:r>
              <a:rPr sz="18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18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18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API.</a:t>
            </a:r>
            <a:endParaRPr sz="1850">
              <a:latin typeface="Microsoft Sans Serif"/>
              <a:cs typeface="Microsoft Sans Serif"/>
            </a:endParaRPr>
          </a:p>
          <a:p>
            <a:pPr marL="699135" marR="9525" lvl="1" indent="-229235">
              <a:lnSpc>
                <a:spcPct val="101499"/>
              </a:lnSpc>
              <a:spcBef>
                <a:spcPts val="1430"/>
              </a:spcBef>
              <a:buChar char="-"/>
              <a:tabLst>
                <a:tab pos="699135" algn="l"/>
              </a:tabLst>
            </a:pP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Next,</a:t>
            </a:r>
            <a:r>
              <a:rPr sz="1850" spc="2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850" spc="1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decoded</a:t>
            </a:r>
            <a:r>
              <a:rPr sz="1850" spc="2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50" spc="1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response</a:t>
            </a:r>
            <a:r>
              <a:rPr sz="1850" spc="1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content</a:t>
            </a:r>
            <a:r>
              <a:rPr sz="1850" spc="1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850" spc="1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50" spc="2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Json</a:t>
            </a:r>
            <a:r>
              <a:rPr sz="1850" spc="1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1850" spc="2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.json()</a:t>
            </a:r>
            <a:r>
              <a:rPr sz="1850" spc="1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function</a:t>
            </a:r>
            <a:r>
              <a:rPr sz="1850" spc="1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call</a:t>
            </a:r>
            <a:r>
              <a:rPr sz="1850" spc="1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50" spc="2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turn</a:t>
            </a:r>
            <a:r>
              <a:rPr sz="1850" spc="229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it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sz="18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pandas</a:t>
            </a:r>
            <a:r>
              <a:rPr sz="18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dataframe</a:t>
            </a:r>
            <a:r>
              <a:rPr sz="18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18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.json_normalize().</a:t>
            </a:r>
            <a:endParaRPr sz="185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60"/>
              </a:spcBef>
              <a:buChar char="-"/>
              <a:tabLst>
                <a:tab pos="699135" algn="l"/>
              </a:tabLst>
            </a:pP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850" spc="2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then</a:t>
            </a:r>
            <a:r>
              <a:rPr sz="1850" spc="2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cleaned</a:t>
            </a:r>
            <a:r>
              <a:rPr sz="1850" spc="2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50" spc="2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data,</a:t>
            </a:r>
            <a:r>
              <a:rPr sz="1850" spc="2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checked</a:t>
            </a:r>
            <a:r>
              <a:rPr sz="1850" spc="2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50" spc="25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missing</a:t>
            </a:r>
            <a:r>
              <a:rPr sz="1850" spc="2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values</a:t>
            </a:r>
            <a:r>
              <a:rPr sz="1850" spc="2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1850" spc="2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fill</a:t>
            </a:r>
            <a:r>
              <a:rPr sz="1850" spc="2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50" spc="2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missing</a:t>
            </a:r>
            <a:r>
              <a:rPr sz="1850" spc="2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values</a:t>
            </a:r>
            <a:r>
              <a:rPr sz="1850" spc="2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endParaRPr sz="1850">
              <a:latin typeface="Microsoft Sans Serif"/>
              <a:cs typeface="Microsoft Sans Serif"/>
            </a:endParaRPr>
          </a:p>
          <a:p>
            <a:pPr marL="699135">
              <a:lnSpc>
                <a:spcPct val="100000"/>
              </a:lnSpc>
              <a:spcBef>
                <a:spcPts val="105"/>
              </a:spcBef>
            </a:pP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necessary.</a:t>
            </a:r>
            <a:endParaRPr sz="185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60"/>
              </a:spcBef>
              <a:buChar char="-"/>
              <a:tabLst>
                <a:tab pos="699135" algn="l"/>
              </a:tabLst>
            </a:pP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1850" spc="1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addition,</a:t>
            </a:r>
            <a:r>
              <a:rPr sz="185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18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performed</a:t>
            </a:r>
            <a:r>
              <a:rPr sz="1850" spc="1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web</a:t>
            </a:r>
            <a:r>
              <a:rPr sz="1850" spc="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scraping</a:t>
            </a:r>
            <a:r>
              <a:rPr sz="18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185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Wikipedia</a:t>
            </a:r>
            <a:r>
              <a:rPr sz="1850" spc="1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5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1850" spc="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100" dirty="0">
                <a:solidFill>
                  <a:srgbClr val="292929"/>
                </a:solidFill>
                <a:latin typeface="Microsoft Sans Serif"/>
                <a:cs typeface="Microsoft Sans Serif"/>
              </a:rPr>
              <a:t>9</a:t>
            </a:r>
            <a:r>
              <a:rPr sz="1850" spc="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850" spc="1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records</a:t>
            </a:r>
            <a:r>
              <a:rPr sz="18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endParaRPr sz="1850">
              <a:latin typeface="Microsoft Sans Serif"/>
              <a:cs typeface="Microsoft Sans Serif"/>
            </a:endParaRPr>
          </a:p>
          <a:p>
            <a:pPr marL="699135">
              <a:lnSpc>
                <a:spcPct val="100000"/>
              </a:lnSpc>
              <a:spcBef>
                <a:spcPts val="35"/>
              </a:spcBef>
            </a:pP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BeautifulSoup.</a:t>
            </a:r>
            <a:endParaRPr sz="1850">
              <a:latin typeface="Microsoft Sans Serif"/>
              <a:cs typeface="Microsoft Sans Serif"/>
            </a:endParaRPr>
          </a:p>
          <a:p>
            <a:pPr marL="699135" marR="10160" lvl="1" indent="-229235">
              <a:lnSpc>
                <a:spcPct val="104900"/>
              </a:lnSpc>
              <a:spcBef>
                <a:spcPts val="1350"/>
              </a:spcBef>
              <a:buChar char="-"/>
              <a:tabLst>
                <a:tab pos="699135" algn="l"/>
                <a:tab pos="1198880" algn="l"/>
                <a:tab pos="2255520" algn="l"/>
                <a:tab pos="2779395" algn="l"/>
                <a:tab pos="3120390" algn="l"/>
                <a:tab pos="3943350" algn="l"/>
                <a:tab pos="4400550" algn="l"/>
                <a:tab pos="5200650" algn="l"/>
                <a:tab pos="6099175" algn="l"/>
                <a:tab pos="6454775" algn="l"/>
                <a:tab pos="7175500" algn="l"/>
                <a:tab pos="7874634" algn="l"/>
                <a:tab pos="8569960" algn="l"/>
                <a:tab pos="9027160" algn="l"/>
                <a:tab pos="9670415" algn="l"/>
              </a:tabLst>
            </a:pPr>
            <a:r>
              <a:rPr sz="18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objective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was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extract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records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HTML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table,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parse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table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	</a:t>
            </a:r>
            <a:r>
              <a:rPr sz="18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convert</a:t>
            </a:r>
            <a:r>
              <a:rPr sz="18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it</a:t>
            </a:r>
            <a:r>
              <a:rPr sz="18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18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18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pandas</a:t>
            </a:r>
            <a:r>
              <a:rPr sz="185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dataframe</a:t>
            </a:r>
            <a:r>
              <a:rPr sz="18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18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dirty="0">
                <a:solidFill>
                  <a:srgbClr val="292929"/>
                </a:solidFill>
                <a:latin typeface="Microsoft Sans Serif"/>
                <a:cs typeface="Microsoft Sans Serif"/>
              </a:rPr>
              <a:t>future</a:t>
            </a:r>
            <a:r>
              <a:rPr sz="18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18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7</a:t>
            </a:fld>
            <a:endParaRPr spc="3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19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10" dirty="0"/>
              <a:t>Data</a:t>
            </a:r>
            <a:r>
              <a:rPr sz="3650" spc="-210" dirty="0"/>
              <a:t> </a:t>
            </a:r>
            <a:r>
              <a:rPr sz="3650" spc="-55" dirty="0"/>
              <a:t>Collection</a:t>
            </a:r>
            <a:endParaRPr sz="36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112" y="1788223"/>
            <a:ext cx="4394200" cy="40392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1300" marR="180975" indent="-229235">
              <a:lnSpc>
                <a:spcPct val="92400"/>
              </a:lnSpc>
              <a:spcBef>
                <a:spcPts val="320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get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215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API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collect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data,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clean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requested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did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some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basic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wrangling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formatting.</a:t>
            </a:r>
            <a:endParaRPr sz="215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link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is:</a:t>
            </a:r>
            <a:endParaRPr sz="2150" dirty="0">
              <a:latin typeface="Microsoft Sans Serif"/>
              <a:cs typeface="Microsoft Sans Serif"/>
            </a:endParaRPr>
          </a:p>
          <a:p>
            <a:pPr marL="12700" marR="38100">
              <a:lnSpc>
                <a:spcPct val="93200"/>
              </a:lnSpc>
              <a:spcBef>
                <a:spcPts val="1355"/>
              </a:spcBef>
            </a:pP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https://github.com/</a:t>
            </a:r>
            <a:r>
              <a:rPr lang="en-IN" sz="2150" spc="-10" dirty="0" err="1">
                <a:solidFill>
                  <a:srgbClr val="292929"/>
                </a:solidFill>
                <a:latin typeface="Calibri"/>
                <a:cs typeface="Calibri"/>
              </a:rPr>
              <a:t>SarthakChauhan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/IBM-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Data-Science-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Professional- Certificate/blob/main/10.%20Applied</a:t>
            </a:r>
            <a:endParaRPr sz="2150" dirty="0">
              <a:latin typeface="Calibri"/>
              <a:cs typeface="Calibri"/>
            </a:endParaRPr>
          </a:p>
          <a:p>
            <a:pPr marL="12700">
              <a:lnSpc>
                <a:spcPts val="2240"/>
              </a:lnSpc>
            </a:pP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%20Data%20Science%20Capstone/We</a:t>
            </a:r>
            <a:endParaRPr sz="2150" dirty="0">
              <a:latin typeface="Calibri"/>
              <a:cs typeface="Calibri"/>
            </a:endParaRPr>
          </a:p>
          <a:p>
            <a:pPr marL="12700" marR="80645">
              <a:lnSpc>
                <a:spcPts val="2400"/>
              </a:lnSpc>
              <a:spcBef>
                <a:spcPts val="140"/>
              </a:spcBef>
            </a:pP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ek%201%3A%20Introduction/jupyter-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labs-spacex-data-collection-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api.ipynb.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58572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0" dirty="0"/>
              <a:t>Data</a:t>
            </a:r>
            <a:r>
              <a:rPr sz="3650" spc="-80" dirty="0"/>
              <a:t> </a:t>
            </a:r>
            <a:r>
              <a:rPr sz="3650" spc="-35" dirty="0"/>
              <a:t>Collection</a:t>
            </a:r>
            <a:r>
              <a:rPr sz="3650" spc="-40" dirty="0"/>
              <a:t> </a:t>
            </a:r>
            <a:r>
              <a:rPr sz="3650" spc="760" dirty="0"/>
              <a:t>–</a:t>
            </a:r>
            <a:r>
              <a:rPr sz="3650" spc="-50" dirty="0"/>
              <a:t> </a:t>
            </a:r>
            <a:r>
              <a:rPr sz="3650" spc="-200" dirty="0"/>
              <a:t>SpaceX</a:t>
            </a:r>
            <a:r>
              <a:rPr sz="3650" spc="-45" dirty="0"/>
              <a:t> </a:t>
            </a:r>
            <a:r>
              <a:rPr sz="3650" spc="-145" dirty="0"/>
              <a:t>API</a:t>
            </a:r>
            <a:endParaRPr sz="3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5100" y="1495425"/>
            <a:ext cx="4867275" cy="4533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8</a:t>
            </a:fld>
            <a:endParaRPr spc="3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0112" y="1502727"/>
            <a:ext cx="4435475" cy="44018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0" marR="125095" indent="-229235">
              <a:lnSpc>
                <a:spcPct val="101899"/>
              </a:lnSpc>
              <a:spcBef>
                <a:spcPts val="7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applied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web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scrapping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to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webscrap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Falcon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9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records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150" spc="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BeautifulSoup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ct val="101899"/>
              </a:lnSpc>
              <a:spcBef>
                <a:spcPts val="143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parsed</a:t>
            </a:r>
            <a:r>
              <a:rPr sz="215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table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converted 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it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1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pandas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dataframe.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53975" indent="-229235">
              <a:lnSpc>
                <a:spcPct val="102400"/>
              </a:lnSpc>
              <a:spcBef>
                <a:spcPts val="141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link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is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https://github.com/</a:t>
            </a:r>
            <a:r>
              <a:rPr lang="en-IN" sz="2150" spc="-10" dirty="0" err="1">
                <a:solidFill>
                  <a:srgbClr val="292929"/>
                </a:solidFill>
                <a:latin typeface="Calibri"/>
                <a:cs typeface="Calibri"/>
              </a:rPr>
              <a:t>SarthakChauhan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/IB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M-Data-Science-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Professional- Certificate/blob/main/10.%20Applie d%20Data%20Science%20Capstone/ Week%201%3A%20Introduction/jup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yter-labs-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webscraping.ipynb</a:t>
            </a:r>
            <a:r>
              <a:rPr sz="215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2100" rIns="0" bIns="0" rtlCol="0">
            <a:spAutoFit/>
          </a:bodyPr>
          <a:lstStyle/>
          <a:p>
            <a:pPr marL="292100">
              <a:lnSpc>
                <a:spcPct val="100000"/>
              </a:lnSpc>
              <a:spcBef>
                <a:spcPts val="130"/>
              </a:spcBef>
            </a:pPr>
            <a:r>
              <a:rPr sz="3650" spc="-20" dirty="0"/>
              <a:t>Data</a:t>
            </a:r>
            <a:r>
              <a:rPr sz="3650" spc="-65" dirty="0"/>
              <a:t> </a:t>
            </a:r>
            <a:r>
              <a:rPr sz="3650" spc="-35" dirty="0"/>
              <a:t>Collection </a:t>
            </a:r>
            <a:r>
              <a:rPr sz="3650" dirty="0"/>
              <a:t>-</a:t>
            </a:r>
            <a:r>
              <a:rPr sz="3650" spc="-60" dirty="0"/>
              <a:t> </a:t>
            </a:r>
            <a:r>
              <a:rPr sz="3650" spc="-70" dirty="0"/>
              <a:t>Scraping</a:t>
            </a:r>
            <a:endParaRPr sz="3650"/>
          </a:p>
        </p:txBody>
      </p:sp>
      <p:grpSp>
        <p:nvGrpSpPr>
          <p:cNvPr id="4" name="object 4"/>
          <p:cNvGrpSpPr/>
          <p:nvPr/>
        </p:nvGrpSpPr>
        <p:grpSpPr>
          <a:xfrm>
            <a:off x="5905500" y="1447800"/>
            <a:ext cx="4657725" cy="4781550"/>
            <a:chOff x="5905500" y="1447800"/>
            <a:chExt cx="4657725" cy="4781550"/>
          </a:xfrm>
        </p:grpSpPr>
        <p:sp>
          <p:nvSpPr>
            <p:cNvPr id="5" name="object 5"/>
            <p:cNvSpPr/>
            <p:nvPr/>
          </p:nvSpPr>
          <p:spPr>
            <a:xfrm>
              <a:off x="5910325" y="1481137"/>
              <a:ext cx="4562475" cy="4686300"/>
            </a:xfrm>
            <a:custGeom>
              <a:avLst/>
              <a:gdLst/>
              <a:ahLst/>
              <a:cxnLst/>
              <a:rect l="l" t="t" r="r" b="b"/>
              <a:pathLst>
                <a:path w="4562475" h="4686300">
                  <a:moveTo>
                    <a:pt x="0" y="4686300"/>
                  </a:moveTo>
                  <a:lnTo>
                    <a:pt x="4562475" y="4686300"/>
                  </a:lnTo>
                  <a:lnTo>
                    <a:pt x="4562475" y="0"/>
                  </a:lnTo>
                  <a:lnTo>
                    <a:pt x="0" y="0"/>
                  </a:lnTo>
                  <a:lnTo>
                    <a:pt x="0" y="4686300"/>
                  </a:lnTo>
                  <a:close/>
                </a:path>
              </a:pathLst>
            </a:custGeom>
            <a:ln w="9525">
              <a:solidFill>
                <a:srgbClr val="0A48C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5500" y="1447800"/>
              <a:ext cx="4657725" cy="478155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0020">
              <a:lnSpc>
                <a:spcPts val="1810"/>
              </a:lnSpc>
            </a:pPr>
            <a:fld id="{81D60167-4931-47E6-BA6A-407CBD079E47}" type="slidenum">
              <a:rPr spc="35" dirty="0"/>
              <a:t>9</a:t>
            </a:fld>
            <a:endParaRPr spc="3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10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8771" y="1473898"/>
            <a:ext cx="5201920" cy="45827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ts val="2490"/>
              </a:lnSpc>
              <a:spcBef>
                <a:spcPts val="1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performed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endParaRPr sz="2150" dirty="0">
              <a:latin typeface="Microsoft Sans Serif"/>
              <a:cs typeface="Microsoft Sans Serif"/>
            </a:endParaRPr>
          </a:p>
          <a:p>
            <a:pPr marL="241300">
              <a:lnSpc>
                <a:spcPts val="2490"/>
              </a:lnSpc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determined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training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labels.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123825" indent="-229235">
              <a:lnSpc>
                <a:spcPct val="917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calculated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 the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at 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site,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occurrence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orbits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273050" indent="-229235">
              <a:lnSpc>
                <a:spcPct val="917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created</a:t>
            </a:r>
            <a:r>
              <a:rPr sz="215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15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column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exported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csv.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ct val="102600"/>
              </a:lnSpc>
              <a:spcBef>
                <a:spcPts val="141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link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is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https://github.com/</a:t>
            </a:r>
            <a:r>
              <a:rPr lang="en-IN" sz="2150" spc="-10" dirty="0" err="1">
                <a:solidFill>
                  <a:srgbClr val="292929"/>
                </a:solidFill>
                <a:latin typeface="Calibri"/>
                <a:cs typeface="Calibri"/>
              </a:rPr>
              <a:t>SarthakChauhan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/IBM-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Data-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Science-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Professional- Certificate/blob/main/10.%20Applied%20D ata%20Science%20Capstone/Week%201%3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97625" y="6033134"/>
            <a:ext cx="4471670" cy="691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A%20Introduction/labs-jupyter-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spacex-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Data%20wrangling.ipynb</a:t>
            </a:r>
            <a:r>
              <a:rPr sz="2150" spc="-10" dirty="0">
                <a:solidFill>
                  <a:srgbClr val="1C7CDB"/>
                </a:solidFill>
                <a:latin typeface="Microsoft Sans Serif"/>
                <a:cs typeface="Microsoft Sans Serif"/>
              </a:rPr>
              <a:t>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10" dirty="0"/>
              <a:t>Data</a:t>
            </a:r>
            <a:r>
              <a:rPr sz="3650" spc="-210" dirty="0"/>
              <a:t> </a:t>
            </a:r>
            <a:r>
              <a:rPr sz="3650" spc="-55" dirty="0"/>
              <a:t>Wrangling</a:t>
            </a:r>
            <a:endParaRPr sz="365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485900"/>
            <a:ext cx="5019675" cy="3990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175" dirty="0"/>
              <a:t>EDA</a:t>
            </a:r>
            <a:r>
              <a:rPr sz="3650" spc="-10" dirty="0"/>
              <a:t> </a:t>
            </a:r>
            <a:r>
              <a:rPr sz="3650" dirty="0"/>
              <a:t>with</a:t>
            </a:r>
            <a:r>
              <a:rPr sz="3650" spc="-20" dirty="0"/>
              <a:t> </a:t>
            </a:r>
            <a:r>
              <a:rPr sz="3650" spc="-10" dirty="0"/>
              <a:t>Data</a:t>
            </a:r>
            <a:r>
              <a:rPr sz="3650" spc="-25" dirty="0"/>
              <a:t> </a:t>
            </a:r>
            <a:r>
              <a:rPr sz="3650" spc="-35" dirty="0"/>
              <a:t>Visualization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849312" y="1521523"/>
            <a:ext cx="10541000" cy="52438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41300" marR="5737225" indent="-229235">
              <a:lnSpc>
                <a:spcPct val="102499"/>
              </a:lnSpc>
              <a:spcBef>
                <a:spcPts val="6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explored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visualizing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 number</a:t>
            </a:r>
            <a:r>
              <a:rPr sz="215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Site,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</a:t>
            </a:r>
            <a:r>
              <a:rPr sz="215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and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site,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type,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215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type,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yearly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trend.</a:t>
            </a:r>
            <a:endParaRPr sz="21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10"/>
              </a:spcBef>
              <a:buClr>
                <a:srgbClr val="292929"/>
              </a:buClr>
              <a:buFont typeface="Arial MT"/>
              <a:buChar char="•"/>
            </a:pPr>
            <a:endParaRPr sz="2150" dirty="0">
              <a:latin typeface="Microsoft Sans Serif"/>
              <a:cs typeface="Microsoft Sans Serif"/>
            </a:endParaRPr>
          </a:p>
          <a:p>
            <a:pPr marL="5671185" marR="229235" lvl="1" indent="-343535">
              <a:lnSpc>
                <a:spcPct val="102400"/>
              </a:lnSpc>
              <a:buFont typeface="Arial MT"/>
              <a:buChar char="•"/>
              <a:tabLst>
                <a:tab pos="5671185" algn="l"/>
              </a:tabLst>
            </a:pP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link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is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https://github.com/</a:t>
            </a:r>
            <a:r>
              <a:rPr lang="en-IN" sz="2150" spc="-10" dirty="0" err="1">
                <a:solidFill>
                  <a:srgbClr val="292929"/>
                </a:solidFill>
                <a:latin typeface="Calibri"/>
                <a:cs typeface="Calibri"/>
              </a:rPr>
              <a:t>SarthakChauhan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/IBM-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Data-Science-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Professional- Certificate/blob/main/10.%20Applied%2 0Data%20Science%20Capstone/Week%2 02%3A%20Exploratory%20Data%20Anal ysis%20(EDA)/edadataviz.ipynb</a:t>
            </a:r>
            <a:endParaRPr sz="215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6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11</a:t>
            </a:r>
            <a:endParaRPr sz="155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1525" y="1495425"/>
            <a:ext cx="10496550" cy="4933950"/>
            <a:chOff x="771525" y="1495425"/>
            <a:chExt cx="10496550" cy="49339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525" y="3667125"/>
              <a:ext cx="5000625" cy="27622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76950" y="1495425"/>
              <a:ext cx="5191125" cy="2476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12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1422463"/>
            <a:ext cx="10279380" cy="37318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1300" marR="632460" indent="-229235">
              <a:lnSpc>
                <a:spcPct val="101800"/>
              </a:lnSpc>
              <a:spcBef>
                <a:spcPts val="8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loaded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25" dirty="0">
                <a:solidFill>
                  <a:srgbClr val="292929"/>
                </a:solidFill>
                <a:latin typeface="Microsoft Sans Serif"/>
                <a:cs typeface="Microsoft Sans Serif"/>
              </a:rPr>
              <a:t>SpaceX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dataset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PostgreSQL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database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without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leaving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jupyter</a:t>
            </a:r>
            <a:r>
              <a:rPr sz="215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notebook.</a:t>
            </a:r>
            <a:endParaRPr sz="215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ct val="101899"/>
              </a:lnSpc>
              <a:spcBef>
                <a:spcPts val="14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applied</a:t>
            </a:r>
            <a:r>
              <a:rPr sz="215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EDA</a:t>
            </a:r>
            <a:r>
              <a:rPr sz="2150" spc="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40" dirty="0">
                <a:solidFill>
                  <a:srgbClr val="292929"/>
                </a:solidFill>
                <a:latin typeface="Microsoft Sans Serif"/>
                <a:cs typeface="Microsoft Sans Serif"/>
              </a:rPr>
              <a:t>SQL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get</a:t>
            </a:r>
            <a:r>
              <a:rPr sz="215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insight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data.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wrote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queries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find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11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instance:</a:t>
            </a:r>
            <a:endParaRPr sz="215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00"/>
              </a:spcBef>
              <a:buChar char="-"/>
              <a:tabLst>
                <a:tab pos="699135" algn="l"/>
              </a:tabLst>
            </a:pP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names</a:t>
            </a:r>
            <a:r>
              <a:rPr sz="17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of</a:t>
            </a:r>
            <a:r>
              <a:rPr sz="17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unique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</a:t>
            </a:r>
            <a:r>
              <a:rPr sz="17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sites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in</a:t>
            </a:r>
            <a:r>
              <a:rPr sz="17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7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75" dirty="0">
                <a:solidFill>
                  <a:srgbClr val="767070"/>
                </a:solidFill>
                <a:latin typeface="Microsoft Sans Serif"/>
                <a:cs typeface="Microsoft Sans Serif"/>
              </a:rPr>
              <a:t>space</a:t>
            </a:r>
            <a:r>
              <a:rPr sz="17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mission.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15"/>
              </a:spcBef>
              <a:buChar char="-"/>
              <a:tabLst>
                <a:tab pos="699135" algn="l"/>
              </a:tabLst>
            </a:pP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7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total</a:t>
            </a:r>
            <a:r>
              <a:rPr sz="17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payload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85" dirty="0">
                <a:solidFill>
                  <a:srgbClr val="767070"/>
                </a:solidFill>
                <a:latin typeface="Microsoft Sans Serif"/>
                <a:cs typeface="Microsoft Sans Serif"/>
              </a:rPr>
              <a:t>mass</a:t>
            </a:r>
            <a:r>
              <a:rPr sz="17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carried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by</a:t>
            </a:r>
            <a:r>
              <a:rPr sz="17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boosters</a:t>
            </a:r>
            <a:r>
              <a:rPr sz="1700" spc="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launched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by</a:t>
            </a:r>
            <a:r>
              <a:rPr sz="17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30" dirty="0">
                <a:solidFill>
                  <a:srgbClr val="767070"/>
                </a:solidFill>
                <a:latin typeface="Microsoft Sans Serif"/>
                <a:cs typeface="Microsoft Sans Serif"/>
              </a:rPr>
              <a:t>NASA</a:t>
            </a:r>
            <a:r>
              <a:rPr sz="1700" spc="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(CRS)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15"/>
              </a:spcBef>
              <a:buChar char="-"/>
              <a:tabLst>
                <a:tab pos="699135" algn="l"/>
              </a:tabLst>
            </a:pP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700" spc="-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average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payload</a:t>
            </a:r>
            <a:r>
              <a:rPr sz="17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85" dirty="0">
                <a:solidFill>
                  <a:srgbClr val="767070"/>
                </a:solidFill>
                <a:latin typeface="Microsoft Sans Serif"/>
                <a:cs typeface="Microsoft Sans Serif"/>
              </a:rPr>
              <a:t>mass</a:t>
            </a:r>
            <a:r>
              <a:rPr sz="17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carried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by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booster</a:t>
            </a:r>
            <a:r>
              <a:rPr sz="17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 version</a:t>
            </a:r>
            <a:r>
              <a:rPr sz="17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F9</a:t>
            </a: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v1.1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15"/>
              </a:spcBef>
              <a:buChar char="-"/>
              <a:tabLst>
                <a:tab pos="699135" algn="l"/>
              </a:tabLst>
            </a:pP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 total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number</a:t>
            </a:r>
            <a:r>
              <a:rPr sz="1700" spc="-1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of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65" dirty="0">
                <a:solidFill>
                  <a:srgbClr val="767070"/>
                </a:solidFill>
                <a:latin typeface="Microsoft Sans Serif"/>
                <a:cs typeface="Microsoft Sans Serif"/>
              </a:rPr>
              <a:t>successful</a:t>
            </a:r>
            <a:r>
              <a:rPr sz="17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failure</a:t>
            </a:r>
            <a:r>
              <a:rPr sz="17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mission</a:t>
            </a:r>
            <a:r>
              <a:rPr sz="17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outcomes</a:t>
            </a:r>
            <a:endParaRPr sz="1700">
              <a:latin typeface="Microsoft Sans Serif"/>
              <a:cs typeface="Microsoft Sans Serif"/>
            </a:endParaRPr>
          </a:p>
          <a:p>
            <a:pPr marL="699135" lvl="1" indent="-229235">
              <a:lnSpc>
                <a:spcPct val="100000"/>
              </a:lnSpc>
              <a:spcBef>
                <a:spcPts val="1415"/>
              </a:spcBef>
              <a:buChar char="-"/>
              <a:tabLst>
                <a:tab pos="699135" algn="l"/>
              </a:tabLst>
            </a:pP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The</a:t>
            </a:r>
            <a:r>
              <a:rPr sz="17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failed</a:t>
            </a:r>
            <a:r>
              <a:rPr sz="17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landing</a:t>
            </a:r>
            <a:r>
              <a:rPr sz="17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outcomes</a:t>
            </a:r>
            <a:r>
              <a:rPr sz="17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in</a:t>
            </a:r>
            <a:r>
              <a:rPr sz="17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drone</a:t>
            </a:r>
            <a:r>
              <a:rPr sz="17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ship,</a:t>
            </a:r>
            <a:r>
              <a:rPr sz="17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their</a:t>
            </a:r>
            <a:r>
              <a:rPr sz="17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booster</a:t>
            </a:r>
            <a:r>
              <a:rPr sz="17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version</a:t>
            </a:r>
            <a:r>
              <a:rPr sz="17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700" spc="-8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</a:t>
            </a:r>
            <a:r>
              <a:rPr sz="17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767070"/>
                </a:solidFill>
                <a:latin typeface="Microsoft Sans Serif"/>
                <a:cs typeface="Microsoft Sans Serif"/>
              </a:rPr>
              <a:t>site</a:t>
            </a:r>
            <a:r>
              <a:rPr sz="1700" spc="-7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names.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9312" y="5303837"/>
            <a:ext cx="10269220" cy="1369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Notebook:</a:t>
            </a:r>
            <a:r>
              <a:rPr sz="2150" spc="4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https://github.com/</a:t>
            </a:r>
            <a:r>
              <a:rPr lang="en-IN" sz="2150" spc="-10" dirty="0" err="1">
                <a:solidFill>
                  <a:srgbClr val="292929"/>
                </a:solidFill>
                <a:latin typeface="Calibri"/>
                <a:cs typeface="Calibri"/>
              </a:rPr>
              <a:t>SarthakChauhan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/IBM-Data-Science-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Professional-</a:t>
            </a:r>
            <a:endParaRPr sz="215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Certificate/blob/main/10.%20Applied%20Data%20Science%20Capstone/Week%202%3A</a:t>
            </a:r>
            <a:endParaRPr sz="215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45"/>
              </a:spcBef>
            </a:pP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%20Exploratory%20Data%20Analysis%20(EDA)/jupyter-labs-eda-</a:t>
            </a:r>
            <a:r>
              <a:rPr sz="2150" spc="-20" dirty="0">
                <a:solidFill>
                  <a:srgbClr val="292929"/>
                </a:solidFill>
                <a:latin typeface="Calibri"/>
                <a:cs typeface="Calibri"/>
              </a:rPr>
              <a:t>sql-</a:t>
            </a:r>
            <a:endParaRPr sz="215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coursera_sqllite.ipynb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19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175" dirty="0"/>
              <a:t>EDA</a:t>
            </a:r>
            <a:r>
              <a:rPr sz="3650" spc="75" dirty="0"/>
              <a:t> </a:t>
            </a:r>
            <a:r>
              <a:rPr sz="3650" dirty="0"/>
              <a:t>with</a:t>
            </a:r>
            <a:r>
              <a:rPr sz="3650" spc="100" dirty="0"/>
              <a:t> </a:t>
            </a:r>
            <a:r>
              <a:rPr sz="3650" spc="-330" dirty="0"/>
              <a:t>SQL</a:t>
            </a:r>
            <a:endParaRPr sz="36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575" y="1532953"/>
            <a:ext cx="10264140" cy="41440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0" marR="5080" indent="-229235">
              <a:lnSpc>
                <a:spcPct val="101899"/>
              </a:lnSpc>
              <a:spcBef>
                <a:spcPts val="7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marked</a:t>
            </a:r>
            <a:r>
              <a:rPr sz="2150" spc="-1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all</a:t>
            </a:r>
            <a:r>
              <a:rPr sz="2150" spc="-1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sites,</a:t>
            </a:r>
            <a:r>
              <a:rPr sz="215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added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map</a:t>
            </a:r>
            <a:r>
              <a:rPr sz="2150" spc="-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objects</a:t>
            </a:r>
            <a:r>
              <a:rPr sz="2150" spc="-1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such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markers,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circles,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lines</a:t>
            </a:r>
            <a:r>
              <a:rPr sz="2150" spc="-10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to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mark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failure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each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on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folium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map.</a:t>
            </a:r>
            <a:endParaRPr sz="215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assigned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feature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(failure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or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success)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0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1.i.e.,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0</a:t>
            </a:r>
            <a:endParaRPr sz="215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failure,</a:t>
            </a:r>
            <a:r>
              <a:rPr sz="215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1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success.</a:t>
            </a:r>
            <a:endParaRPr sz="2150">
              <a:latin typeface="Microsoft Sans Serif"/>
              <a:cs typeface="Microsoft Sans Serif"/>
            </a:endParaRPr>
          </a:p>
          <a:p>
            <a:pPr marL="241300" marR="786130" indent="-229235">
              <a:lnSpc>
                <a:spcPct val="101899"/>
              </a:lnSpc>
              <a:spcBef>
                <a:spcPts val="14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color-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labeled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marker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clusters,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identified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which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have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relatively high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rate.</a:t>
            </a:r>
            <a:endParaRPr sz="2150">
              <a:latin typeface="Microsoft Sans Serif"/>
              <a:cs typeface="Microsoft Sans Serif"/>
            </a:endParaRPr>
          </a:p>
          <a:p>
            <a:pPr marL="241300" marR="257810" indent="-229235">
              <a:lnSpc>
                <a:spcPct val="101899"/>
              </a:lnSpc>
              <a:spcBef>
                <a:spcPts val="143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calculated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distances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its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proximities.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answered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some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question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instance:</a:t>
            </a:r>
            <a:endParaRPr sz="215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450"/>
              </a:spcBef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767070"/>
                </a:solidFill>
                <a:latin typeface="Microsoft Sans Serif"/>
                <a:cs typeface="Microsoft Sans Serif"/>
              </a:rPr>
              <a:t>Are</a:t>
            </a:r>
            <a:r>
              <a:rPr sz="1800" spc="-7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</a:t>
            </a:r>
            <a:r>
              <a:rPr sz="18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sites</a:t>
            </a:r>
            <a:r>
              <a:rPr sz="18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near</a:t>
            </a:r>
            <a:r>
              <a:rPr sz="1800" spc="-3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railways,</a:t>
            </a:r>
            <a:r>
              <a:rPr sz="18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highways</a:t>
            </a:r>
            <a:r>
              <a:rPr sz="1800" spc="-7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67070"/>
                </a:solidFill>
                <a:latin typeface="Microsoft Sans Serif"/>
                <a:cs typeface="Microsoft Sans Serif"/>
              </a:rPr>
              <a:t>and</a:t>
            </a:r>
            <a:r>
              <a:rPr sz="18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coastlines.</a:t>
            </a:r>
            <a:endParaRPr sz="18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1370"/>
              </a:spcBef>
              <a:buChar char="-"/>
              <a:tabLst>
                <a:tab pos="698500" algn="l"/>
              </a:tabLst>
            </a:pPr>
            <a:r>
              <a:rPr sz="1800" dirty="0">
                <a:solidFill>
                  <a:srgbClr val="767070"/>
                </a:solidFill>
                <a:latin typeface="Microsoft Sans Serif"/>
                <a:cs typeface="Microsoft Sans Serif"/>
              </a:rPr>
              <a:t>Do</a:t>
            </a:r>
            <a:r>
              <a:rPr sz="1800" spc="-12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60" dirty="0">
                <a:solidFill>
                  <a:srgbClr val="767070"/>
                </a:solidFill>
                <a:latin typeface="Microsoft Sans Serif"/>
                <a:cs typeface="Microsoft Sans Serif"/>
              </a:rPr>
              <a:t>launch</a:t>
            </a:r>
            <a:r>
              <a:rPr sz="18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767070"/>
                </a:solidFill>
                <a:latin typeface="Microsoft Sans Serif"/>
                <a:cs typeface="Microsoft Sans Serif"/>
              </a:rPr>
              <a:t>sites</a:t>
            </a:r>
            <a:r>
              <a:rPr sz="18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keep</a:t>
            </a:r>
            <a:r>
              <a:rPr sz="1800" spc="-4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767070"/>
                </a:solidFill>
                <a:latin typeface="Microsoft Sans Serif"/>
                <a:cs typeface="Microsoft Sans Serif"/>
              </a:rPr>
              <a:t>certain</a:t>
            </a:r>
            <a:r>
              <a:rPr sz="1800" spc="-5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767070"/>
                </a:solidFill>
                <a:latin typeface="Microsoft Sans Serif"/>
                <a:cs typeface="Microsoft Sans Serif"/>
              </a:rPr>
              <a:t>distance</a:t>
            </a:r>
            <a:r>
              <a:rPr sz="18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85" dirty="0">
                <a:solidFill>
                  <a:srgbClr val="767070"/>
                </a:solidFill>
                <a:latin typeface="Microsoft Sans Serif"/>
                <a:cs typeface="Microsoft Sans Serif"/>
              </a:rPr>
              <a:t>away</a:t>
            </a:r>
            <a:r>
              <a:rPr sz="1800" spc="-35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767070"/>
                </a:solidFill>
                <a:latin typeface="Microsoft Sans Serif"/>
                <a:cs typeface="Microsoft Sans Serif"/>
              </a:rPr>
              <a:t>from</a:t>
            </a:r>
            <a:r>
              <a:rPr sz="1800" spc="-50" dirty="0">
                <a:solidFill>
                  <a:srgbClr val="767070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767070"/>
                </a:solidFill>
                <a:latin typeface="Microsoft Sans Serif"/>
                <a:cs typeface="Microsoft Sans Serif"/>
              </a:rPr>
              <a:t>cities.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13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7353934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dirty="0"/>
              <a:t>Build</a:t>
            </a:r>
            <a:r>
              <a:rPr sz="3650" spc="-65" dirty="0"/>
              <a:t> </a:t>
            </a:r>
            <a:r>
              <a:rPr sz="3650" dirty="0"/>
              <a:t>an</a:t>
            </a:r>
            <a:r>
              <a:rPr sz="3650" spc="-25" dirty="0"/>
              <a:t> </a:t>
            </a:r>
            <a:r>
              <a:rPr sz="3650" spc="-40" dirty="0"/>
              <a:t>Interactive</a:t>
            </a:r>
            <a:r>
              <a:rPr sz="3650" spc="-55" dirty="0"/>
              <a:t> </a:t>
            </a:r>
            <a:r>
              <a:rPr sz="3650" dirty="0"/>
              <a:t>Map</a:t>
            </a:r>
            <a:r>
              <a:rPr sz="3650" spc="-65" dirty="0"/>
              <a:t> </a:t>
            </a:r>
            <a:r>
              <a:rPr sz="3650" dirty="0"/>
              <a:t>with</a:t>
            </a:r>
            <a:r>
              <a:rPr sz="3650" spc="-25" dirty="0"/>
              <a:t> </a:t>
            </a:r>
            <a:r>
              <a:rPr sz="3650" spc="-20" dirty="0"/>
              <a:t>Folium</a:t>
            </a:r>
            <a:endParaRPr sz="36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0932" y="1677406"/>
            <a:ext cx="9528810" cy="307848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00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55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built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 interactive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dashboard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 Plotly</a:t>
            </a:r>
            <a:r>
              <a:rPr sz="215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dash</a:t>
            </a:r>
            <a:endParaRPr sz="215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plotted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pie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charts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showing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launches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15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certain</a:t>
            </a:r>
            <a:r>
              <a:rPr sz="215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ct val="101899"/>
              </a:lnSpc>
              <a:spcBef>
                <a:spcPts val="14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5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plotted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scatter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graph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showing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 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Mass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(Kg)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version.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25400" indent="-229235">
              <a:lnSpc>
                <a:spcPct val="103299"/>
              </a:lnSpc>
              <a:spcBef>
                <a:spcPts val="139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Notebook:</a:t>
            </a:r>
            <a:r>
              <a:rPr sz="2150" spc="3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https://github.com/</a:t>
            </a:r>
            <a:r>
              <a:rPr lang="en-IN" sz="2150" spc="-10" dirty="0" err="1">
                <a:solidFill>
                  <a:srgbClr val="292929"/>
                </a:solidFill>
                <a:latin typeface="Calibri"/>
                <a:cs typeface="Calibri"/>
              </a:rPr>
              <a:t>SarthakChauhan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/IBM-Data-Science-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Professional- Certificate/blob/main/10.%20Applied%20Data%20Science%20Capstone/Week%2</a:t>
            </a:r>
            <a:r>
              <a:rPr sz="2150" spc="535" dirty="0">
                <a:solidFill>
                  <a:srgbClr val="292929"/>
                </a:solidFill>
                <a:latin typeface="Calibri"/>
                <a:cs typeface="Calibri"/>
              </a:rPr>
              <a:t> 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03:%20Interactive%20Visual%20Analytics%20and%20Dashboard/spacex_app.py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14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715010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dirty="0"/>
              <a:t>Build</a:t>
            </a:r>
            <a:r>
              <a:rPr sz="3650" spc="-55" dirty="0"/>
              <a:t> </a:t>
            </a:r>
            <a:r>
              <a:rPr sz="3650" dirty="0"/>
              <a:t>a</a:t>
            </a:r>
            <a:r>
              <a:rPr sz="3650" spc="-20" dirty="0"/>
              <a:t> </a:t>
            </a:r>
            <a:r>
              <a:rPr sz="3650" spc="-40" dirty="0"/>
              <a:t>Dashboard</a:t>
            </a:r>
            <a:r>
              <a:rPr sz="3650" spc="-55" dirty="0"/>
              <a:t> </a:t>
            </a:r>
            <a:r>
              <a:rPr sz="3650" dirty="0"/>
              <a:t>with</a:t>
            </a:r>
            <a:r>
              <a:rPr sz="3650" spc="-15" dirty="0"/>
              <a:t> </a:t>
            </a:r>
            <a:r>
              <a:rPr sz="3650" dirty="0"/>
              <a:t>Plotly</a:t>
            </a:r>
            <a:r>
              <a:rPr sz="3650" spc="15" dirty="0"/>
              <a:t> </a:t>
            </a:r>
            <a:r>
              <a:rPr sz="3650" spc="-70" dirty="0"/>
              <a:t>Dash</a:t>
            </a:r>
            <a:endParaRPr sz="36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813623"/>
            <a:ext cx="9561830" cy="4086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ts val="2490"/>
              </a:lnSpc>
              <a:spcBef>
                <a:spcPts val="12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loaded</a:t>
            </a:r>
            <a:r>
              <a:rPr sz="2150" spc="-114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numpy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pandas,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transformed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data,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split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our</a:t>
            </a:r>
            <a:endParaRPr sz="2150" dirty="0">
              <a:latin typeface="Microsoft Sans Serif"/>
              <a:cs typeface="Microsoft Sans Serif"/>
            </a:endParaRPr>
          </a:p>
          <a:p>
            <a:pPr marL="241300">
              <a:lnSpc>
                <a:spcPts val="2490"/>
              </a:lnSpc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1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into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training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testing.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1998980" indent="-229235">
              <a:lnSpc>
                <a:spcPts val="2400"/>
              </a:lnSpc>
              <a:spcBef>
                <a:spcPts val="141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built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machine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learning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models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tune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hyperparameters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GridSearchCV.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592455" indent="-229235">
              <a:lnSpc>
                <a:spcPts val="2400"/>
              </a:lnSpc>
              <a:spcBef>
                <a:spcPts val="135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 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accuracy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metric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 our model,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improved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 feature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engineering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algorithm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tuning.</a:t>
            </a:r>
            <a:endParaRPr sz="2150" dirty="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found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best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performing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classification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model.</a:t>
            </a:r>
            <a:endParaRPr sz="2150" dirty="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ct val="92200"/>
              </a:lnSpc>
              <a:spcBef>
                <a:spcPts val="137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Notebook:</a:t>
            </a:r>
            <a:r>
              <a:rPr sz="2150" spc="40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https://github.com/</a:t>
            </a:r>
            <a:r>
              <a:rPr lang="en-IN" sz="2150" spc="-10" dirty="0" err="1">
                <a:solidFill>
                  <a:srgbClr val="292929"/>
                </a:solidFill>
                <a:latin typeface="Calibri"/>
                <a:cs typeface="Calibri"/>
              </a:rPr>
              <a:t>SarthakChauhan</a:t>
            </a:r>
            <a:r>
              <a:rPr sz="2150" dirty="0">
                <a:solidFill>
                  <a:srgbClr val="292929"/>
                </a:solidFill>
                <a:latin typeface="Calibri"/>
                <a:cs typeface="Calibri"/>
              </a:rPr>
              <a:t>/IBM-Data-Science-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Professional- Certificate/blob/main/10.%20Applied%20Data%20Science%20Capstone/Week%2</a:t>
            </a:r>
            <a:r>
              <a:rPr sz="2150" spc="535" dirty="0">
                <a:solidFill>
                  <a:srgbClr val="292929"/>
                </a:solidFill>
                <a:latin typeface="Calibri"/>
                <a:cs typeface="Calibri"/>
              </a:rPr>
              <a:t> 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04%3A%20Predictive%20Analysis%20(Classification)/Machine%20Learning%20Pre</a:t>
            </a:r>
            <a:r>
              <a:rPr sz="2150" spc="535" dirty="0">
                <a:solidFill>
                  <a:srgbClr val="292929"/>
                </a:solidFill>
                <a:latin typeface="Calibri"/>
                <a:cs typeface="Calibri"/>
              </a:rPr>
              <a:t>  </a:t>
            </a:r>
            <a:r>
              <a:rPr sz="2150" spc="-10" dirty="0">
                <a:solidFill>
                  <a:srgbClr val="292929"/>
                </a:solidFill>
                <a:latin typeface="Calibri"/>
                <a:cs typeface="Calibri"/>
              </a:rPr>
              <a:t>diction.ipynb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15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40" dirty="0"/>
              <a:t>Predictive</a:t>
            </a:r>
            <a:r>
              <a:rPr sz="3650" spc="-150" dirty="0"/>
              <a:t> </a:t>
            </a:r>
            <a:r>
              <a:rPr sz="3650" spc="-80" dirty="0"/>
              <a:t>Analysis</a:t>
            </a:r>
            <a:r>
              <a:rPr sz="3650" spc="-150" dirty="0"/>
              <a:t> </a:t>
            </a:r>
            <a:r>
              <a:rPr sz="3650" spc="-90" dirty="0"/>
              <a:t>(Classification)</a:t>
            </a:r>
            <a:endParaRPr sz="36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0750" y="1659953"/>
            <a:ext cx="5113655" cy="1551305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495"/>
              </a:spcBef>
              <a:buClr>
                <a:srgbClr val="292929"/>
              </a:buClr>
              <a:buFont typeface="Arial MT"/>
              <a:buChar char="•"/>
              <a:tabLst>
                <a:tab pos="240665" algn="l"/>
              </a:tabLst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Exploratory</a:t>
            </a:r>
            <a:r>
              <a:rPr sz="2150" spc="-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data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Interactive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analytics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demo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screenshots</a:t>
            </a:r>
            <a:endParaRPr sz="2150">
              <a:latin typeface="Microsoft Sans Serif"/>
              <a:cs typeface="Microsoft Sans Serif"/>
            </a:endParaRPr>
          </a:p>
          <a:p>
            <a:pPr marL="240665" indent="-2279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0665" algn="l"/>
              </a:tabLst>
            </a:pP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Predictive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analysis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results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16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319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130" dirty="0"/>
              <a:t>Results</a:t>
            </a:r>
            <a:endParaRPr sz="36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543550"/>
            <a:ext cx="12187238" cy="13144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714750"/>
            <a:ext cx="12187238" cy="5905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819150"/>
            <a:ext cx="12192000" cy="28575"/>
            <a:chOff x="0" y="819150"/>
            <a:chExt cx="12192000" cy="2857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819150"/>
              <a:ext cx="12192000" cy="285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819150"/>
              <a:ext cx="12192000" cy="28575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0" y="1085850"/>
            <a:ext cx="12192000" cy="228600"/>
            <a:chOff x="0" y="1085850"/>
            <a:chExt cx="12192000" cy="22860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085850"/>
              <a:ext cx="12192000" cy="190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085850"/>
              <a:ext cx="12192000" cy="228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1285875"/>
              <a:ext cx="12192000" cy="28575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0" y="1514475"/>
            <a:ext cx="12192000" cy="28575"/>
            <a:chOff x="0" y="1514475"/>
            <a:chExt cx="12192000" cy="28575"/>
          </a:xfrm>
        </p:grpSpPr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0" y="1514475"/>
              <a:ext cx="12192000" cy="285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1514475"/>
              <a:ext cx="12192000" cy="28575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0" y="1885950"/>
            <a:ext cx="12192000" cy="28575"/>
            <a:chOff x="0" y="1885950"/>
            <a:chExt cx="12192000" cy="28575"/>
          </a:xfrm>
        </p:grpSpPr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1885950"/>
              <a:ext cx="12192000" cy="2857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0" y="1885950"/>
              <a:ext cx="12192000" cy="28575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873302" y="2000250"/>
            <a:ext cx="1318696" cy="2857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0" y="2000250"/>
            <a:ext cx="12192000" cy="28575"/>
            <a:chOff x="0" y="2000250"/>
            <a:chExt cx="12192000" cy="28575"/>
          </a:xfrm>
        </p:grpSpPr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21599" y="2000250"/>
              <a:ext cx="1618617" cy="285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0" y="2000250"/>
              <a:ext cx="12192000" cy="28575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1330323" y="2305050"/>
            <a:ext cx="861675" cy="200025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0" y="2305050"/>
            <a:ext cx="12192000" cy="247650"/>
            <a:chOff x="0" y="2305050"/>
            <a:chExt cx="12192000" cy="247650"/>
          </a:xfrm>
        </p:grpSpPr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16811" y="2314575"/>
              <a:ext cx="1618617" cy="1714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0" y="2305050"/>
              <a:ext cx="12192000" cy="24765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0" y="2524125"/>
              <a:ext cx="12192000" cy="28575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0" y="2628900"/>
            <a:ext cx="12187555" cy="147955"/>
          </a:xfrm>
          <a:custGeom>
            <a:avLst/>
            <a:gdLst/>
            <a:ahLst/>
            <a:cxnLst/>
            <a:rect l="l" t="t" r="r" b="b"/>
            <a:pathLst>
              <a:path w="12187555" h="147955">
                <a:moveTo>
                  <a:pt x="12187240" y="147637"/>
                </a:moveTo>
                <a:lnTo>
                  <a:pt x="0" y="147637"/>
                </a:lnTo>
                <a:lnTo>
                  <a:pt x="0" y="0"/>
                </a:lnTo>
                <a:lnTo>
                  <a:pt x="12187240" y="0"/>
                </a:lnTo>
                <a:lnTo>
                  <a:pt x="12187240" y="147637"/>
                </a:lnTo>
                <a:close/>
              </a:path>
            </a:pathLst>
          </a:custGeom>
          <a:solidFill>
            <a:srgbClr val="0A49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854510" y="2559513"/>
            <a:ext cx="841375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Section</a:t>
            </a:r>
            <a:r>
              <a:rPr sz="150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2809875"/>
            <a:ext cx="12192000" cy="28575"/>
            <a:chOff x="0" y="2809875"/>
            <a:chExt cx="12192000" cy="28575"/>
          </a:xfrm>
        </p:grpSpPr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825430" y="2809875"/>
              <a:ext cx="366568" cy="285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597450" y="2809875"/>
              <a:ext cx="1618617" cy="285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483726" y="2809875"/>
              <a:ext cx="1904255" cy="2857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0" y="2809875"/>
              <a:ext cx="12192000" cy="28575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0" y="2886075"/>
            <a:ext cx="12187555" cy="786130"/>
          </a:xfrm>
          <a:custGeom>
            <a:avLst/>
            <a:gdLst/>
            <a:ahLst/>
            <a:cxnLst/>
            <a:rect l="l" t="t" r="r" b="b"/>
            <a:pathLst>
              <a:path w="12187555" h="786129">
                <a:moveTo>
                  <a:pt x="12187240" y="785812"/>
                </a:moveTo>
                <a:lnTo>
                  <a:pt x="0" y="785812"/>
                </a:lnTo>
                <a:lnTo>
                  <a:pt x="0" y="0"/>
                </a:lnTo>
                <a:lnTo>
                  <a:pt x="12187240" y="0"/>
                </a:lnTo>
                <a:lnTo>
                  <a:pt x="12187240" y="785812"/>
                </a:lnTo>
                <a:close/>
              </a:path>
            </a:pathLst>
          </a:custGeom>
          <a:solidFill>
            <a:srgbClr val="0A49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839608" y="3045420"/>
            <a:ext cx="34207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85" dirty="0">
                <a:solidFill>
                  <a:srgbClr val="FFFFFF"/>
                </a:solidFill>
                <a:latin typeface="Arial MT"/>
                <a:cs typeface="Arial MT"/>
              </a:rPr>
              <a:t>Insights</a:t>
            </a:r>
            <a:r>
              <a:rPr sz="40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Arial MT"/>
                <a:cs typeface="Arial MT"/>
              </a:rPr>
              <a:t>drawn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66436" y="3805237"/>
            <a:ext cx="2147570" cy="361950"/>
          </a:xfrm>
          <a:custGeom>
            <a:avLst/>
            <a:gdLst/>
            <a:ahLst/>
            <a:cxnLst/>
            <a:rect l="l" t="t" r="r" b="b"/>
            <a:pathLst>
              <a:path w="2147570" h="361950">
                <a:moveTo>
                  <a:pt x="2147049" y="361949"/>
                </a:moveTo>
                <a:lnTo>
                  <a:pt x="0" y="361949"/>
                </a:lnTo>
                <a:lnTo>
                  <a:pt x="0" y="0"/>
                </a:lnTo>
                <a:lnTo>
                  <a:pt x="2147049" y="0"/>
                </a:lnTo>
                <a:lnTo>
                  <a:pt x="2147049" y="361949"/>
                </a:lnTo>
                <a:close/>
              </a:path>
            </a:pathLst>
          </a:custGeom>
          <a:solidFill>
            <a:srgbClr val="0A48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53483" y="3609313"/>
            <a:ext cx="2138680" cy="674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250" spc="-4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4250" spc="-22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250" spc="-530" dirty="0">
                <a:solidFill>
                  <a:srgbClr val="FFFFFF"/>
                </a:solidFill>
                <a:latin typeface="Arial MT"/>
                <a:cs typeface="Arial MT"/>
              </a:rPr>
              <a:t>EDA</a:t>
            </a:r>
            <a:endParaRPr sz="42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0" y="4819650"/>
            <a:ext cx="12192000" cy="333375"/>
            <a:chOff x="0" y="4819650"/>
            <a:chExt cx="12192000" cy="333375"/>
          </a:xfrm>
        </p:grpSpPr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425537" y="4867275"/>
              <a:ext cx="766462" cy="28575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454897" y="4819650"/>
              <a:ext cx="2247022" cy="3333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0" y="4819650"/>
              <a:ext cx="12192000" cy="3333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562" y="2083435"/>
            <a:ext cx="10412095" cy="6921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0"/>
              </a:spcBef>
              <a:buClr>
                <a:srgbClr val="292929"/>
              </a:buClr>
              <a:buFont typeface="Arial MT"/>
              <a:buChar char="•"/>
              <a:tabLst>
                <a:tab pos="240665" algn="l"/>
              </a:tabLst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plot,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found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 the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larger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amount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at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site,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greater</a:t>
            </a:r>
            <a:endParaRPr sz="215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rate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at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602869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dirty="0"/>
              <a:t>Flight</a:t>
            </a:r>
            <a:r>
              <a:rPr sz="3650" spc="-114" dirty="0"/>
              <a:t> </a:t>
            </a:r>
            <a:r>
              <a:rPr sz="3650" spc="-40" dirty="0"/>
              <a:t>Number</a:t>
            </a:r>
            <a:r>
              <a:rPr sz="3650" spc="-114" dirty="0"/>
              <a:t> </a:t>
            </a:r>
            <a:r>
              <a:rPr sz="3650" spc="-45" dirty="0"/>
              <a:t>vs.</a:t>
            </a:r>
            <a:r>
              <a:rPr sz="3650" spc="-130" dirty="0"/>
              <a:t> </a:t>
            </a:r>
            <a:r>
              <a:rPr sz="3650" spc="-80" dirty="0"/>
              <a:t>Launch</a:t>
            </a:r>
            <a:r>
              <a:rPr sz="3650" spc="-75" dirty="0"/>
              <a:t> </a:t>
            </a:r>
            <a:r>
              <a:rPr sz="3650" spc="-45" dirty="0"/>
              <a:t>Site</a:t>
            </a:r>
            <a:endParaRPr sz="3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5" y="2952750"/>
            <a:ext cx="9677400" cy="25050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16691" y="6113199"/>
            <a:ext cx="273050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18</a:t>
            </a:r>
            <a:endParaRPr sz="1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375" y="1367472"/>
            <a:ext cx="2028825" cy="9563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65"/>
              </a:spcBef>
            </a:pPr>
            <a:r>
              <a:rPr sz="3200" spc="-100" dirty="0"/>
              <a:t>Payload</a:t>
            </a:r>
            <a:r>
              <a:rPr sz="3200" spc="-95" dirty="0"/>
              <a:t> </a:t>
            </a:r>
            <a:r>
              <a:rPr sz="3200" spc="-25" dirty="0"/>
              <a:t>vs. </a:t>
            </a:r>
            <a:r>
              <a:rPr sz="3200" spc="-114" dirty="0"/>
              <a:t>Launch</a:t>
            </a:r>
            <a:r>
              <a:rPr sz="3200" spc="-85" dirty="0"/>
              <a:t> </a:t>
            </a:r>
            <a:r>
              <a:rPr sz="3200" spc="-95" dirty="0"/>
              <a:t>Site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297728" y="750379"/>
            <a:ext cx="83820" cy="5452745"/>
            <a:chOff x="4297728" y="750379"/>
            <a:chExt cx="83820" cy="5452745"/>
          </a:xfrm>
        </p:grpSpPr>
        <p:sp>
          <p:nvSpPr>
            <p:cNvPr id="4" name="object 4"/>
            <p:cNvSpPr/>
            <p:nvPr/>
          </p:nvSpPr>
          <p:spPr>
            <a:xfrm>
              <a:off x="4311473" y="770889"/>
              <a:ext cx="48260" cy="5410835"/>
            </a:xfrm>
            <a:custGeom>
              <a:avLst/>
              <a:gdLst/>
              <a:ahLst/>
              <a:cxnLst/>
              <a:rect l="l" t="t" r="r" b="b"/>
              <a:pathLst>
                <a:path w="48260" h="5410835">
                  <a:moveTo>
                    <a:pt x="23798" y="0"/>
                  </a:moveTo>
                  <a:lnTo>
                    <a:pt x="20369" y="381"/>
                  </a:lnTo>
                  <a:lnTo>
                    <a:pt x="12876" y="635"/>
                  </a:lnTo>
                  <a:lnTo>
                    <a:pt x="16196" y="70714"/>
                  </a:lnTo>
                  <a:lnTo>
                    <a:pt x="18088" y="136905"/>
                  </a:lnTo>
                  <a:lnTo>
                    <a:pt x="18782" y="199491"/>
                  </a:lnTo>
                  <a:lnTo>
                    <a:pt x="18508" y="258755"/>
                  </a:lnTo>
                  <a:lnTo>
                    <a:pt x="17494" y="314980"/>
                  </a:lnTo>
                  <a:lnTo>
                    <a:pt x="15969" y="368451"/>
                  </a:lnTo>
                  <a:lnTo>
                    <a:pt x="10621" y="515162"/>
                  </a:lnTo>
                  <a:lnTo>
                    <a:pt x="9344" y="560443"/>
                  </a:lnTo>
                  <a:lnTo>
                    <a:pt x="8702" y="604386"/>
                  </a:lnTo>
                  <a:lnTo>
                    <a:pt x="8924" y="647273"/>
                  </a:lnTo>
                  <a:lnTo>
                    <a:pt x="10239" y="689387"/>
                  </a:lnTo>
                  <a:lnTo>
                    <a:pt x="12876" y="731012"/>
                  </a:lnTo>
                  <a:lnTo>
                    <a:pt x="16197" y="777252"/>
                  </a:lnTo>
                  <a:lnTo>
                    <a:pt x="18904" y="826306"/>
                  </a:lnTo>
                  <a:lnTo>
                    <a:pt x="21013" y="877669"/>
                  </a:lnTo>
                  <a:lnTo>
                    <a:pt x="22540" y="930837"/>
                  </a:lnTo>
                  <a:lnTo>
                    <a:pt x="23503" y="985304"/>
                  </a:lnTo>
                  <a:lnTo>
                    <a:pt x="23918" y="1040567"/>
                  </a:lnTo>
                  <a:lnTo>
                    <a:pt x="23801" y="1096121"/>
                  </a:lnTo>
                  <a:lnTo>
                    <a:pt x="23170" y="1151461"/>
                  </a:lnTo>
                  <a:lnTo>
                    <a:pt x="22041" y="1206082"/>
                  </a:lnTo>
                  <a:lnTo>
                    <a:pt x="20430" y="1259479"/>
                  </a:lnTo>
                  <a:lnTo>
                    <a:pt x="18355" y="1311149"/>
                  </a:lnTo>
                  <a:lnTo>
                    <a:pt x="15831" y="1360587"/>
                  </a:lnTo>
                  <a:lnTo>
                    <a:pt x="9435" y="1459459"/>
                  </a:lnTo>
                  <a:lnTo>
                    <a:pt x="6611" y="1509645"/>
                  </a:lnTo>
                  <a:lnTo>
                    <a:pt x="4426" y="1558471"/>
                  </a:lnTo>
                  <a:lnTo>
                    <a:pt x="2905" y="1606564"/>
                  </a:lnTo>
                  <a:lnTo>
                    <a:pt x="2073" y="1654551"/>
                  </a:lnTo>
                  <a:lnTo>
                    <a:pt x="1953" y="1703060"/>
                  </a:lnTo>
                  <a:lnTo>
                    <a:pt x="2569" y="1752716"/>
                  </a:lnTo>
                  <a:lnTo>
                    <a:pt x="3945" y="1804147"/>
                  </a:lnTo>
                  <a:lnTo>
                    <a:pt x="6106" y="1857980"/>
                  </a:lnTo>
                  <a:lnTo>
                    <a:pt x="9075" y="1914841"/>
                  </a:lnTo>
                  <a:lnTo>
                    <a:pt x="12876" y="1975358"/>
                  </a:lnTo>
                  <a:lnTo>
                    <a:pt x="15037" y="2018508"/>
                  </a:lnTo>
                  <a:lnTo>
                    <a:pt x="15861" y="2062010"/>
                  </a:lnTo>
                  <a:lnTo>
                    <a:pt x="15571" y="2105956"/>
                  </a:lnTo>
                  <a:lnTo>
                    <a:pt x="14394" y="2150439"/>
                  </a:lnTo>
                  <a:lnTo>
                    <a:pt x="12554" y="2195552"/>
                  </a:lnTo>
                  <a:lnTo>
                    <a:pt x="5304" y="2335593"/>
                  </a:lnTo>
                  <a:lnTo>
                    <a:pt x="3060" y="2384150"/>
                  </a:lnTo>
                  <a:lnTo>
                    <a:pt x="1279" y="2433800"/>
                  </a:lnTo>
                  <a:lnTo>
                    <a:pt x="183" y="2484636"/>
                  </a:lnTo>
                  <a:lnTo>
                    <a:pt x="0" y="2536749"/>
                  </a:lnTo>
                  <a:lnTo>
                    <a:pt x="952" y="2590233"/>
                  </a:lnTo>
                  <a:lnTo>
                    <a:pt x="3266" y="2645181"/>
                  </a:lnTo>
                  <a:lnTo>
                    <a:pt x="7165" y="2701684"/>
                  </a:lnTo>
                  <a:lnTo>
                    <a:pt x="18449" y="2817594"/>
                  </a:lnTo>
                  <a:lnTo>
                    <a:pt x="21971" y="2873018"/>
                  </a:lnTo>
                  <a:lnTo>
                    <a:pt x="23723" y="2926360"/>
                  </a:lnTo>
                  <a:lnTo>
                    <a:pt x="23985" y="2977870"/>
                  </a:lnTo>
                  <a:lnTo>
                    <a:pt x="23036" y="3027798"/>
                  </a:lnTo>
                  <a:lnTo>
                    <a:pt x="21158" y="3076396"/>
                  </a:lnTo>
                  <a:lnTo>
                    <a:pt x="18631" y="3123914"/>
                  </a:lnTo>
                  <a:lnTo>
                    <a:pt x="9952" y="3262492"/>
                  </a:lnTo>
                  <a:lnTo>
                    <a:pt x="7627" y="3308195"/>
                  </a:lnTo>
                  <a:lnTo>
                    <a:pt x="6054" y="3354071"/>
                  </a:lnTo>
                  <a:lnTo>
                    <a:pt x="5512" y="3400371"/>
                  </a:lnTo>
                  <a:lnTo>
                    <a:pt x="6282" y="3447344"/>
                  </a:lnTo>
                  <a:lnTo>
                    <a:pt x="8643" y="3495242"/>
                  </a:lnTo>
                  <a:lnTo>
                    <a:pt x="18072" y="3602576"/>
                  </a:lnTo>
                  <a:lnTo>
                    <a:pt x="20968" y="3655555"/>
                  </a:lnTo>
                  <a:lnTo>
                    <a:pt x="21955" y="3704219"/>
                  </a:lnTo>
                  <a:lnTo>
                    <a:pt x="21423" y="3749538"/>
                  </a:lnTo>
                  <a:lnTo>
                    <a:pt x="19764" y="3792478"/>
                  </a:lnTo>
                  <a:lnTo>
                    <a:pt x="17370" y="3834007"/>
                  </a:lnTo>
                  <a:lnTo>
                    <a:pt x="11940" y="3916703"/>
                  </a:lnTo>
                  <a:lnTo>
                    <a:pt x="9686" y="3959805"/>
                  </a:lnTo>
                  <a:lnTo>
                    <a:pt x="8261" y="4005367"/>
                  </a:lnTo>
                  <a:lnTo>
                    <a:pt x="8058" y="4054357"/>
                  </a:lnTo>
                  <a:lnTo>
                    <a:pt x="9465" y="4107741"/>
                  </a:lnTo>
                  <a:lnTo>
                    <a:pt x="16618" y="4227764"/>
                  </a:lnTo>
                  <a:lnTo>
                    <a:pt x="18908" y="4287997"/>
                  </a:lnTo>
                  <a:lnTo>
                    <a:pt x="19972" y="4347051"/>
                  </a:lnTo>
                  <a:lnTo>
                    <a:pt x="20037" y="4404790"/>
                  </a:lnTo>
                  <a:lnTo>
                    <a:pt x="19327" y="4461077"/>
                  </a:lnTo>
                  <a:lnTo>
                    <a:pt x="18069" y="4515776"/>
                  </a:lnTo>
                  <a:lnTo>
                    <a:pt x="13263" y="4668984"/>
                  </a:lnTo>
                  <a:lnTo>
                    <a:pt x="12070" y="4715970"/>
                  </a:lnTo>
                  <a:lnTo>
                    <a:pt x="11457" y="4760685"/>
                  </a:lnTo>
                  <a:lnTo>
                    <a:pt x="11650" y="4802995"/>
                  </a:lnTo>
                  <a:lnTo>
                    <a:pt x="14107" y="4887986"/>
                  </a:lnTo>
                  <a:lnTo>
                    <a:pt x="13793" y="4933081"/>
                  </a:lnTo>
                  <a:lnTo>
                    <a:pt x="12368" y="4978520"/>
                  </a:lnTo>
                  <a:lnTo>
                    <a:pt x="7913" y="5072308"/>
                  </a:lnTo>
                  <a:lnTo>
                    <a:pt x="5748" y="5121599"/>
                  </a:lnTo>
                  <a:lnTo>
                    <a:pt x="4204" y="5173114"/>
                  </a:lnTo>
                  <a:lnTo>
                    <a:pt x="3711" y="5227325"/>
                  </a:lnTo>
                  <a:lnTo>
                    <a:pt x="4704" y="5284702"/>
                  </a:lnTo>
                  <a:lnTo>
                    <a:pt x="7615" y="5345715"/>
                  </a:lnTo>
                  <a:lnTo>
                    <a:pt x="12876" y="5410835"/>
                  </a:lnTo>
                  <a:lnTo>
                    <a:pt x="18845" y="5410111"/>
                  </a:lnTo>
                  <a:lnTo>
                    <a:pt x="26338" y="5410149"/>
                  </a:lnTo>
                  <a:lnTo>
                    <a:pt x="31926" y="5410835"/>
                  </a:lnTo>
                  <a:lnTo>
                    <a:pt x="30682" y="5366139"/>
                  </a:lnTo>
                  <a:lnTo>
                    <a:pt x="29915" y="5319141"/>
                  </a:lnTo>
                  <a:lnTo>
                    <a:pt x="29562" y="5270163"/>
                  </a:lnTo>
                  <a:lnTo>
                    <a:pt x="29563" y="5219531"/>
                  </a:lnTo>
                  <a:lnTo>
                    <a:pt x="30374" y="5114594"/>
                  </a:lnTo>
                  <a:lnTo>
                    <a:pt x="34240" y="4845946"/>
                  </a:lnTo>
                  <a:lnTo>
                    <a:pt x="35221" y="4742762"/>
                  </a:lnTo>
                  <a:lnTo>
                    <a:pt x="35343" y="4693381"/>
                  </a:lnTo>
                  <a:lnTo>
                    <a:pt x="35136" y="4645906"/>
                  </a:lnTo>
                  <a:lnTo>
                    <a:pt x="34539" y="4600660"/>
                  </a:lnTo>
                  <a:lnTo>
                    <a:pt x="33490" y="4557967"/>
                  </a:lnTo>
                  <a:lnTo>
                    <a:pt x="31926" y="4518152"/>
                  </a:lnTo>
                  <a:lnTo>
                    <a:pt x="29706" y="4469684"/>
                  </a:lnTo>
                  <a:lnTo>
                    <a:pt x="28099" y="4428990"/>
                  </a:lnTo>
                  <a:lnTo>
                    <a:pt x="27041" y="4394165"/>
                  </a:lnTo>
                  <a:lnTo>
                    <a:pt x="26463" y="4363307"/>
                  </a:lnTo>
                  <a:lnTo>
                    <a:pt x="26300" y="4334513"/>
                  </a:lnTo>
                  <a:lnTo>
                    <a:pt x="26485" y="4305879"/>
                  </a:lnTo>
                  <a:lnTo>
                    <a:pt x="29372" y="4154889"/>
                  </a:lnTo>
                  <a:lnTo>
                    <a:pt x="31171" y="4030877"/>
                  </a:lnTo>
                  <a:lnTo>
                    <a:pt x="31926" y="3950080"/>
                  </a:lnTo>
                  <a:lnTo>
                    <a:pt x="32154" y="3881697"/>
                  </a:lnTo>
                  <a:lnTo>
                    <a:pt x="31817" y="3819105"/>
                  </a:lnTo>
                  <a:lnTo>
                    <a:pt x="31030" y="3761617"/>
                  </a:lnTo>
                  <a:lnTo>
                    <a:pt x="29908" y="3708544"/>
                  </a:lnTo>
                  <a:lnTo>
                    <a:pt x="23271" y="3485330"/>
                  </a:lnTo>
                  <a:lnTo>
                    <a:pt x="22539" y="3444299"/>
                  </a:lnTo>
                  <a:lnTo>
                    <a:pt x="22272" y="3402867"/>
                  </a:lnTo>
                  <a:lnTo>
                    <a:pt x="22586" y="3360346"/>
                  </a:lnTo>
                  <a:lnTo>
                    <a:pt x="23593" y="3316047"/>
                  </a:lnTo>
                  <a:lnTo>
                    <a:pt x="25410" y="3269282"/>
                  </a:lnTo>
                  <a:lnTo>
                    <a:pt x="28149" y="3219363"/>
                  </a:lnTo>
                  <a:lnTo>
                    <a:pt x="37170" y="3094070"/>
                  </a:lnTo>
                  <a:lnTo>
                    <a:pt x="41363" y="3028163"/>
                  </a:lnTo>
                  <a:lnTo>
                    <a:pt x="44535" y="2967267"/>
                  </a:lnTo>
                  <a:lnTo>
                    <a:pt x="46715" y="2910769"/>
                  </a:lnTo>
                  <a:lnTo>
                    <a:pt x="47931" y="2858054"/>
                  </a:lnTo>
                  <a:lnTo>
                    <a:pt x="48214" y="2808509"/>
                  </a:lnTo>
                  <a:lnTo>
                    <a:pt x="47592" y="2761520"/>
                  </a:lnTo>
                  <a:lnTo>
                    <a:pt x="46094" y="2716473"/>
                  </a:lnTo>
                  <a:lnTo>
                    <a:pt x="43749" y="2672754"/>
                  </a:lnTo>
                  <a:lnTo>
                    <a:pt x="40587" y="2629750"/>
                  </a:lnTo>
                  <a:lnTo>
                    <a:pt x="36636" y="2586846"/>
                  </a:lnTo>
                  <a:lnTo>
                    <a:pt x="31926" y="2543429"/>
                  </a:lnTo>
                  <a:lnTo>
                    <a:pt x="27854" y="2501168"/>
                  </a:lnTo>
                  <a:lnTo>
                    <a:pt x="25585" y="2461314"/>
                  </a:lnTo>
                  <a:lnTo>
                    <a:pt x="24800" y="2422622"/>
                  </a:lnTo>
                  <a:lnTo>
                    <a:pt x="25181" y="2383846"/>
                  </a:lnTo>
                  <a:lnTo>
                    <a:pt x="26408" y="2343742"/>
                  </a:lnTo>
                  <a:lnTo>
                    <a:pt x="30128" y="2254570"/>
                  </a:lnTo>
                  <a:lnTo>
                    <a:pt x="31983" y="2203012"/>
                  </a:lnTo>
                  <a:lnTo>
                    <a:pt x="33408" y="2145147"/>
                  </a:lnTo>
                  <a:lnTo>
                    <a:pt x="34087" y="2079729"/>
                  </a:lnTo>
                  <a:lnTo>
                    <a:pt x="33699" y="2005513"/>
                  </a:lnTo>
                  <a:lnTo>
                    <a:pt x="30227" y="1850058"/>
                  </a:lnTo>
                  <a:lnTo>
                    <a:pt x="29182" y="1780187"/>
                  </a:lnTo>
                  <a:lnTo>
                    <a:pt x="28695" y="1711958"/>
                  </a:lnTo>
                  <a:lnTo>
                    <a:pt x="28673" y="1645691"/>
                  </a:lnTo>
                  <a:lnTo>
                    <a:pt x="29019" y="1581700"/>
                  </a:lnTo>
                  <a:lnTo>
                    <a:pt x="29640" y="1520303"/>
                  </a:lnTo>
                  <a:lnTo>
                    <a:pt x="32970" y="1306999"/>
                  </a:lnTo>
                  <a:lnTo>
                    <a:pt x="33816" y="1224154"/>
                  </a:lnTo>
                  <a:lnTo>
                    <a:pt x="33702" y="1189792"/>
                  </a:lnTo>
                  <a:lnTo>
                    <a:pt x="33104" y="1160561"/>
                  </a:lnTo>
                  <a:lnTo>
                    <a:pt x="31926" y="1136777"/>
                  </a:lnTo>
                  <a:lnTo>
                    <a:pt x="30733" y="1103560"/>
                  </a:lnTo>
                  <a:lnTo>
                    <a:pt x="31280" y="1066682"/>
                  </a:lnTo>
                  <a:lnTo>
                    <a:pt x="33014" y="1025999"/>
                  </a:lnTo>
                  <a:lnTo>
                    <a:pt x="37832" y="932656"/>
                  </a:lnTo>
                  <a:lnTo>
                    <a:pt x="39808" y="879711"/>
                  </a:lnTo>
                  <a:lnTo>
                    <a:pt x="40759" y="822396"/>
                  </a:lnTo>
                  <a:lnTo>
                    <a:pt x="40131" y="760568"/>
                  </a:lnTo>
                  <a:lnTo>
                    <a:pt x="37371" y="694086"/>
                  </a:lnTo>
                  <a:lnTo>
                    <a:pt x="31926" y="622808"/>
                  </a:lnTo>
                  <a:lnTo>
                    <a:pt x="27141" y="564387"/>
                  </a:lnTo>
                  <a:lnTo>
                    <a:pt x="24209" y="511192"/>
                  </a:lnTo>
                  <a:lnTo>
                    <a:pt x="22836" y="462014"/>
                  </a:lnTo>
                  <a:lnTo>
                    <a:pt x="22726" y="415642"/>
                  </a:lnTo>
                  <a:lnTo>
                    <a:pt x="23584" y="370869"/>
                  </a:lnTo>
                  <a:lnTo>
                    <a:pt x="25116" y="326485"/>
                  </a:lnTo>
                  <a:lnTo>
                    <a:pt x="29019" y="234046"/>
                  </a:lnTo>
                  <a:lnTo>
                    <a:pt x="30801" y="183574"/>
                  </a:lnTo>
                  <a:lnTo>
                    <a:pt x="32076" y="128654"/>
                  </a:lnTo>
                  <a:lnTo>
                    <a:pt x="32549" y="68077"/>
                  </a:lnTo>
                  <a:lnTo>
                    <a:pt x="31926" y="635"/>
                  </a:lnTo>
                  <a:lnTo>
                    <a:pt x="2379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18366" y="771016"/>
              <a:ext cx="42545" cy="5411470"/>
            </a:xfrm>
            <a:custGeom>
              <a:avLst/>
              <a:gdLst/>
              <a:ahLst/>
              <a:cxnLst/>
              <a:rect l="l" t="t" r="r" b="b"/>
              <a:pathLst>
                <a:path w="42545" h="5411470">
                  <a:moveTo>
                    <a:pt x="25033" y="508"/>
                  </a:moveTo>
                  <a:lnTo>
                    <a:pt x="29797" y="44885"/>
                  </a:lnTo>
                  <a:lnTo>
                    <a:pt x="33509" y="89371"/>
                  </a:lnTo>
                  <a:lnTo>
                    <a:pt x="36204" y="134414"/>
                  </a:lnTo>
                  <a:lnTo>
                    <a:pt x="37913" y="180461"/>
                  </a:lnTo>
                  <a:lnTo>
                    <a:pt x="38670" y="227961"/>
                  </a:lnTo>
                  <a:lnTo>
                    <a:pt x="38507" y="277363"/>
                  </a:lnTo>
                  <a:lnTo>
                    <a:pt x="37457" y="329114"/>
                  </a:lnTo>
                  <a:lnTo>
                    <a:pt x="35551" y="383662"/>
                  </a:lnTo>
                  <a:lnTo>
                    <a:pt x="32824" y="441457"/>
                  </a:lnTo>
                  <a:lnTo>
                    <a:pt x="29307" y="502947"/>
                  </a:lnTo>
                  <a:lnTo>
                    <a:pt x="25033" y="568579"/>
                  </a:lnTo>
                  <a:lnTo>
                    <a:pt x="21997" y="621140"/>
                  </a:lnTo>
                  <a:lnTo>
                    <a:pt x="20075" y="672405"/>
                  </a:lnTo>
                  <a:lnTo>
                    <a:pt x="19104" y="722682"/>
                  </a:lnTo>
                  <a:lnTo>
                    <a:pt x="18924" y="772281"/>
                  </a:lnTo>
                  <a:lnTo>
                    <a:pt x="19372" y="821511"/>
                  </a:lnTo>
                  <a:lnTo>
                    <a:pt x="20288" y="870680"/>
                  </a:lnTo>
                  <a:lnTo>
                    <a:pt x="21509" y="920099"/>
                  </a:lnTo>
                  <a:lnTo>
                    <a:pt x="22874" y="970075"/>
                  </a:lnTo>
                  <a:lnTo>
                    <a:pt x="24221" y="1020918"/>
                  </a:lnTo>
                  <a:lnTo>
                    <a:pt x="25389" y="1072937"/>
                  </a:lnTo>
                  <a:lnTo>
                    <a:pt x="26215" y="1126441"/>
                  </a:lnTo>
                  <a:lnTo>
                    <a:pt x="26540" y="1181740"/>
                  </a:lnTo>
                  <a:lnTo>
                    <a:pt x="26199" y="1239141"/>
                  </a:lnTo>
                  <a:lnTo>
                    <a:pt x="25033" y="1298956"/>
                  </a:lnTo>
                  <a:lnTo>
                    <a:pt x="23500" y="1365600"/>
                  </a:lnTo>
                  <a:lnTo>
                    <a:pt x="22634" y="1424021"/>
                  </a:lnTo>
                  <a:lnTo>
                    <a:pt x="22319" y="1475876"/>
                  </a:lnTo>
                  <a:lnTo>
                    <a:pt x="22437" y="1522828"/>
                  </a:lnTo>
                  <a:lnTo>
                    <a:pt x="22873" y="1566536"/>
                  </a:lnTo>
                  <a:lnTo>
                    <a:pt x="23509" y="1608661"/>
                  </a:lnTo>
                  <a:lnTo>
                    <a:pt x="24231" y="1650862"/>
                  </a:lnTo>
                  <a:lnTo>
                    <a:pt x="24920" y="1694800"/>
                  </a:lnTo>
                  <a:lnTo>
                    <a:pt x="25462" y="1742136"/>
                  </a:lnTo>
                  <a:lnTo>
                    <a:pt x="25739" y="1794529"/>
                  </a:lnTo>
                  <a:lnTo>
                    <a:pt x="25635" y="1853640"/>
                  </a:lnTo>
                  <a:lnTo>
                    <a:pt x="25033" y="1921129"/>
                  </a:lnTo>
                  <a:lnTo>
                    <a:pt x="24681" y="1996679"/>
                  </a:lnTo>
                  <a:lnTo>
                    <a:pt x="25353" y="2066046"/>
                  </a:lnTo>
                  <a:lnTo>
                    <a:pt x="26730" y="2129698"/>
                  </a:lnTo>
                  <a:lnTo>
                    <a:pt x="28496" y="2188101"/>
                  </a:lnTo>
                  <a:lnTo>
                    <a:pt x="30332" y="2241722"/>
                  </a:lnTo>
                  <a:lnTo>
                    <a:pt x="31920" y="2291029"/>
                  </a:lnTo>
                  <a:lnTo>
                    <a:pt x="32944" y="2336489"/>
                  </a:lnTo>
                  <a:lnTo>
                    <a:pt x="33085" y="2378569"/>
                  </a:lnTo>
                  <a:lnTo>
                    <a:pt x="32025" y="2417736"/>
                  </a:lnTo>
                  <a:lnTo>
                    <a:pt x="29447" y="2454457"/>
                  </a:lnTo>
                  <a:lnTo>
                    <a:pt x="25033" y="2489200"/>
                  </a:lnTo>
                  <a:lnTo>
                    <a:pt x="22008" y="2517730"/>
                  </a:lnTo>
                  <a:lnTo>
                    <a:pt x="20710" y="2552994"/>
                  </a:lnTo>
                  <a:lnTo>
                    <a:pt x="20839" y="2594103"/>
                  </a:lnTo>
                  <a:lnTo>
                    <a:pt x="22098" y="2640167"/>
                  </a:lnTo>
                  <a:lnTo>
                    <a:pt x="24187" y="2690297"/>
                  </a:lnTo>
                  <a:lnTo>
                    <a:pt x="26807" y="2743604"/>
                  </a:lnTo>
                  <a:lnTo>
                    <a:pt x="29661" y="2799198"/>
                  </a:lnTo>
                  <a:lnTo>
                    <a:pt x="32449" y="2856190"/>
                  </a:lnTo>
                  <a:lnTo>
                    <a:pt x="34872" y="2913691"/>
                  </a:lnTo>
                  <a:lnTo>
                    <a:pt x="36633" y="2970812"/>
                  </a:lnTo>
                  <a:lnTo>
                    <a:pt x="37431" y="3026662"/>
                  </a:lnTo>
                  <a:lnTo>
                    <a:pt x="36969" y="3080353"/>
                  </a:lnTo>
                  <a:lnTo>
                    <a:pt x="34948" y="3130995"/>
                  </a:lnTo>
                  <a:lnTo>
                    <a:pt x="31069" y="3177700"/>
                  </a:lnTo>
                  <a:lnTo>
                    <a:pt x="25033" y="3219577"/>
                  </a:lnTo>
                  <a:lnTo>
                    <a:pt x="17531" y="3265565"/>
                  </a:lnTo>
                  <a:lnTo>
                    <a:pt x="11611" y="3313055"/>
                  </a:lnTo>
                  <a:lnTo>
                    <a:pt x="7183" y="3361910"/>
                  </a:lnTo>
                  <a:lnTo>
                    <a:pt x="4157" y="3411997"/>
                  </a:lnTo>
                  <a:lnTo>
                    <a:pt x="2440" y="3463180"/>
                  </a:lnTo>
                  <a:lnTo>
                    <a:pt x="1944" y="3515323"/>
                  </a:lnTo>
                  <a:lnTo>
                    <a:pt x="2578" y="3568291"/>
                  </a:lnTo>
                  <a:lnTo>
                    <a:pt x="4251" y="3621949"/>
                  </a:lnTo>
                  <a:lnTo>
                    <a:pt x="6872" y="3676161"/>
                  </a:lnTo>
                  <a:lnTo>
                    <a:pt x="10352" y="3730793"/>
                  </a:lnTo>
                  <a:lnTo>
                    <a:pt x="14599" y="3785709"/>
                  </a:lnTo>
                  <a:lnTo>
                    <a:pt x="19523" y="3840773"/>
                  </a:lnTo>
                  <a:lnTo>
                    <a:pt x="25033" y="3895852"/>
                  </a:lnTo>
                  <a:lnTo>
                    <a:pt x="30288" y="3951227"/>
                  </a:lnTo>
                  <a:lnTo>
                    <a:pt x="34529" y="4007085"/>
                  </a:lnTo>
                  <a:lnTo>
                    <a:pt x="37795" y="4063142"/>
                  </a:lnTo>
                  <a:lnTo>
                    <a:pt x="40123" y="4119113"/>
                  </a:lnTo>
                  <a:lnTo>
                    <a:pt x="41550" y="4174714"/>
                  </a:lnTo>
                  <a:lnTo>
                    <a:pt x="42113" y="4229662"/>
                  </a:lnTo>
                  <a:lnTo>
                    <a:pt x="41851" y="4283671"/>
                  </a:lnTo>
                  <a:lnTo>
                    <a:pt x="40800" y="4336459"/>
                  </a:lnTo>
                  <a:lnTo>
                    <a:pt x="38999" y="4387741"/>
                  </a:lnTo>
                  <a:lnTo>
                    <a:pt x="36484" y="4437232"/>
                  </a:lnTo>
                  <a:lnTo>
                    <a:pt x="33293" y="4484650"/>
                  </a:lnTo>
                  <a:lnTo>
                    <a:pt x="29464" y="4529709"/>
                  </a:lnTo>
                  <a:lnTo>
                    <a:pt x="25033" y="4572127"/>
                  </a:lnTo>
                  <a:lnTo>
                    <a:pt x="21902" y="4606014"/>
                  </a:lnTo>
                  <a:lnTo>
                    <a:pt x="19657" y="4644600"/>
                  </a:lnTo>
                  <a:lnTo>
                    <a:pt x="18200" y="4687330"/>
                  </a:lnTo>
                  <a:lnTo>
                    <a:pt x="17432" y="4733651"/>
                  </a:lnTo>
                  <a:lnTo>
                    <a:pt x="17254" y="4783010"/>
                  </a:lnTo>
                  <a:lnTo>
                    <a:pt x="17566" y="4834852"/>
                  </a:lnTo>
                  <a:lnTo>
                    <a:pt x="18269" y="4888624"/>
                  </a:lnTo>
                  <a:lnTo>
                    <a:pt x="19265" y="4943773"/>
                  </a:lnTo>
                  <a:lnTo>
                    <a:pt x="20455" y="4999745"/>
                  </a:lnTo>
                  <a:lnTo>
                    <a:pt x="21738" y="5055986"/>
                  </a:lnTo>
                  <a:lnTo>
                    <a:pt x="23017" y="5111942"/>
                  </a:lnTo>
                  <a:lnTo>
                    <a:pt x="24191" y="5167061"/>
                  </a:lnTo>
                  <a:lnTo>
                    <a:pt x="25162" y="5220788"/>
                  </a:lnTo>
                  <a:lnTo>
                    <a:pt x="25831" y="5272569"/>
                  </a:lnTo>
                  <a:lnTo>
                    <a:pt x="26099" y="5321852"/>
                  </a:lnTo>
                  <a:lnTo>
                    <a:pt x="25866" y="5368083"/>
                  </a:lnTo>
                  <a:lnTo>
                    <a:pt x="25033" y="5410708"/>
                  </a:lnTo>
                  <a:lnTo>
                    <a:pt x="17794" y="5411241"/>
                  </a:lnTo>
                  <a:lnTo>
                    <a:pt x="11698" y="5411444"/>
                  </a:lnTo>
                  <a:lnTo>
                    <a:pt x="5983" y="5410708"/>
                  </a:lnTo>
                  <a:lnTo>
                    <a:pt x="8402" y="5342661"/>
                  </a:lnTo>
                  <a:lnTo>
                    <a:pt x="9307" y="5284869"/>
                  </a:lnTo>
                  <a:lnTo>
                    <a:pt x="9040" y="5235008"/>
                  </a:lnTo>
                  <a:lnTo>
                    <a:pt x="7947" y="5190751"/>
                  </a:lnTo>
                  <a:lnTo>
                    <a:pt x="6370" y="5149775"/>
                  </a:lnTo>
                  <a:lnTo>
                    <a:pt x="4652" y="5109756"/>
                  </a:lnTo>
                  <a:lnTo>
                    <a:pt x="3138" y="5068368"/>
                  </a:lnTo>
                  <a:lnTo>
                    <a:pt x="2170" y="5023286"/>
                  </a:lnTo>
                  <a:lnTo>
                    <a:pt x="2093" y="4972187"/>
                  </a:lnTo>
                  <a:lnTo>
                    <a:pt x="3250" y="4912745"/>
                  </a:lnTo>
                  <a:lnTo>
                    <a:pt x="5983" y="4842637"/>
                  </a:lnTo>
                  <a:lnTo>
                    <a:pt x="9471" y="4763564"/>
                  </a:lnTo>
                  <a:lnTo>
                    <a:pt x="11982" y="4693379"/>
                  </a:lnTo>
                  <a:lnTo>
                    <a:pt x="13592" y="4631055"/>
                  </a:lnTo>
                  <a:lnTo>
                    <a:pt x="14377" y="4575565"/>
                  </a:lnTo>
                  <a:lnTo>
                    <a:pt x="14413" y="4525883"/>
                  </a:lnTo>
                  <a:lnTo>
                    <a:pt x="13774" y="4480982"/>
                  </a:lnTo>
                  <a:lnTo>
                    <a:pt x="12536" y="4439837"/>
                  </a:lnTo>
                  <a:lnTo>
                    <a:pt x="10775" y="4401420"/>
                  </a:lnTo>
                  <a:lnTo>
                    <a:pt x="8565" y="4364706"/>
                  </a:lnTo>
                  <a:lnTo>
                    <a:pt x="5983" y="4328668"/>
                  </a:lnTo>
                  <a:lnTo>
                    <a:pt x="4231" y="4298142"/>
                  </a:lnTo>
                  <a:lnTo>
                    <a:pt x="2871" y="4258945"/>
                  </a:lnTo>
                  <a:lnTo>
                    <a:pt x="1873" y="4212411"/>
                  </a:lnTo>
                  <a:lnTo>
                    <a:pt x="1207" y="4159877"/>
                  </a:lnTo>
                  <a:lnTo>
                    <a:pt x="841" y="4102677"/>
                  </a:lnTo>
                  <a:lnTo>
                    <a:pt x="745" y="4042148"/>
                  </a:lnTo>
                  <a:lnTo>
                    <a:pt x="887" y="3979624"/>
                  </a:lnTo>
                  <a:lnTo>
                    <a:pt x="1238" y="3916441"/>
                  </a:lnTo>
                  <a:lnTo>
                    <a:pt x="1766" y="3853935"/>
                  </a:lnTo>
                  <a:lnTo>
                    <a:pt x="2440" y="3793440"/>
                  </a:lnTo>
                  <a:lnTo>
                    <a:pt x="3230" y="3736293"/>
                  </a:lnTo>
                  <a:lnTo>
                    <a:pt x="4104" y="3683829"/>
                  </a:lnTo>
                  <a:lnTo>
                    <a:pt x="5032" y="3637383"/>
                  </a:lnTo>
                  <a:lnTo>
                    <a:pt x="5983" y="3598291"/>
                  </a:lnTo>
                  <a:lnTo>
                    <a:pt x="6636" y="3554362"/>
                  </a:lnTo>
                  <a:lnTo>
                    <a:pt x="6349" y="3511101"/>
                  </a:lnTo>
                  <a:lnTo>
                    <a:pt x="5392" y="3467771"/>
                  </a:lnTo>
                  <a:lnTo>
                    <a:pt x="4036" y="3423635"/>
                  </a:lnTo>
                  <a:lnTo>
                    <a:pt x="2548" y="3377956"/>
                  </a:lnTo>
                  <a:lnTo>
                    <a:pt x="1200" y="3329997"/>
                  </a:lnTo>
                  <a:lnTo>
                    <a:pt x="261" y="3279022"/>
                  </a:lnTo>
                  <a:lnTo>
                    <a:pt x="0" y="3224293"/>
                  </a:lnTo>
                  <a:lnTo>
                    <a:pt x="687" y="3165075"/>
                  </a:lnTo>
                  <a:lnTo>
                    <a:pt x="2591" y="3100629"/>
                  </a:lnTo>
                  <a:lnTo>
                    <a:pt x="5983" y="3030220"/>
                  </a:lnTo>
                  <a:lnTo>
                    <a:pt x="8711" y="2974530"/>
                  </a:lnTo>
                  <a:lnTo>
                    <a:pt x="10362" y="2922634"/>
                  </a:lnTo>
                  <a:lnTo>
                    <a:pt x="11101" y="2873719"/>
                  </a:lnTo>
                  <a:lnTo>
                    <a:pt x="11093" y="2826972"/>
                  </a:lnTo>
                  <a:lnTo>
                    <a:pt x="10501" y="2781580"/>
                  </a:lnTo>
                  <a:lnTo>
                    <a:pt x="9489" y="2736728"/>
                  </a:lnTo>
                  <a:lnTo>
                    <a:pt x="8222" y="2691606"/>
                  </a:lnTo>
                  <a:lnTo>
                    <a:pt x="6863" y="2645398"/>
                  </a:lnTo>
                  <a:lnTo>
                    <a:pt x="5577" y="2597293"/>
                  </a:lnTo>
                  <a:lnTo>
                    <a:pt x="4528" y="2546477"/>
                  </a:lnTo>
                  <a:lnTo>
                    <a:pt x="3880" y="2492137"/>
                  </a:lnTo>
                  <a:lnTo>
                    <a:pt x="3797" y="2433460"/>
                  </a:lnTo>
                  <a:lnTo>
                    <a:pt x="4444" y="2369633"/>
                  </a:lnTo>
                  <a:lnTo>
                    <a:pt x="5983" y="2299843"/>
                  </a:lnTo>
                  <a:lnTo>
                    <a:pt x="7504" y="2234025"/>
                  </a:lnTo>
                  <a:lnTo>
                    <a:pt x="8328" y="2172548"/>
                  </a:lnTo>
                  <a:lnTo>
                    <a:pt x="8568" y="2114856"/>
                  </a:lnTo>
                  <a:lnTo>
                    <a:pt x="8333" y="2060393"/>
                  </a:lnTo>
                  <a:lnTo>
                    <a:pt x="7733" y="2008603"/>
                  </a:lnTo>
                  <a:lnTo>
                    <a:pt x="6879" y="1958930"/>
                  </a:lnTo>
                  <a:lnTo>
                    <a:pt x="5882" y="1910817"/>
                  </a:lnTo>
                  <a:lnTo>
                    <a:pt x="4852" y="1863708"/>
                  </a:lnTo>
                  <a:lnTo>
                    <a:pt x="3898" y="1817048"/>
                  </a:lnTo>
                  <a:lnTo>
                    <a:pt x="3133" y="1770281"/>
                  </a:lnTo>
                  <a:lnTo>
                    <a:pt x="2665" y="1722849"/>
                  </a:lnTo>
                  <a:lnTo>
                    <a:pt x="2606" y="1674198"/>
                  </a:lnTo>
                  <a:lnTo>
                    <a:pt x="3066" y="1623770"/>
                  </a:lnTo>
                  <a:lnTo>
                    <a:pt x="4155" y="1571011"/>
                  </a:lnTo>
                  <a:lnTo>
                    <a:pt x="5983" y="1515364"/>
                  </a:lnTo>
                  <a:lnTo>
                    <a:pt x="8802" y="1446223"/>
                  </a:lnTo>
                  <a:lnTo>
                    <a:pt x="11575" y="1381700"/>
                  </a:lnTo>
                  <a:lnTo>
                    <a:pt x="14163" y="1321351"/>
                  </a:lnTo>
                  <a:lnTo>
                    <a:pt x="16426" y="1264736"/>
                  </a:lnTo>
                  <a:lnTo>
                    <a:pt x="18222" y="1211412"/>
                  </a:lnTo>
                  <a:lnTo>
                    <a:pt x="19414" y="1160938"/>
                  </a:lnTo>
                  <a:lnTo>
                    <a:pt x="19858" y="1112872"/>
                  </a:lnTo>
                  <a:lnTo>
                    <a:pt x="19417" y="1066771"/>
                  </a:lnTo>
                  <a:lnTo>
                    <a:pt x="17949" y="1022195"/>
                  </a:lnTo>
                  <a:lnTo>
                    <a:pt x="15314" y="978700"/>
                  </a:lnTo>
                  <a:lnTo>
                    <a:pt x="11372" y="935846"/>
                  </a:lnTo>
                  <a:lnTo>
                    <a:pt x="5983" y="893191"/>
                  </a:lnTo>
                  <a:lnTo>
                    <a:pt x="2677" y="861472"/>
                  </a:lnTo>
                  <a:lnTo>
                    <a:pt x="836" y="823743"/>
                  </a:lnTo>
                  <a:lnTo>
                    <a:pt x="259" y="780737"/>
                  </a:lnTo>
                  <a:lnTo>
                    <a:pt x="744" y="733186"/>
                  </a:lnTo>
                  <a:lnTo>
                    <a:pt x="2089" y="681823"/>
                  </a:lnTo>
                  <a:lnTo>
                    <a:pt x="4092" y="627379"/>
                  </a:lnTo>
                  <a:lnTo>
                    <a:pt x="6552" y="570589"/>
                  </a:lnTo>
                  <a:lnTo>
                    <a:pt x="9265" y="512184"/>
                  </a:lnTo>
                  <a:lnTo>
                    <a:pt x="12032" y="452897"/>
                  </a:lnTo>
                  <a:lnTo>
                    <a:pt x="14649" y="393461"/>
                  </a:lnTo>
                  <a:lnTo>
                    <a:pt x="16914" y="334608"/>
                  </a:lnTo>
                  <a:lnTo>
                    <a:pt x="18627" y="277071"/>
                  </a:lnTo>
                  <a:lnTo>
                    <a:pt x="19585" y="221583"/>
                  </a:lnTo>
                  <a:lnTo>
                    <a:pt x="19585" y="168875"/>
                  </a:lnTo>
                  <a:lnTo>
                    <a:pt x="18428" y="119681"/>
                  </a:lnTo>
                  <a:lnTo>
                    <a:pt x="15909" y="74734"/>
                  </a:lnTo>
                  <a:lnTo>
                    <a:pt x="11828" y="34765"/>
                  </a:lnTo>
                  <a:lnTo>
                    <a:pt x="5983" y="508"/>
                  </a:lnTo>
                  <a:lnTo>
                    <a:pt x="15381" y="0"/>
                  </a:lnTo>
                  <a:lnTo>
                    <a:pt x="19699" y="635"/>
                  </a:lnTo>
                  <a:lnTo>
                    <a:pt x="25033" y="508"/>
                  </a:lnTo>
                  <a:close/>
                </a:path>
              </a:pathLst>
            </a:custGeom>
            <a:ln w="41275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3734" y="3181350"/>
            <a:ext cx="6773876" cy="23671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2500" y="1190625"/>
            <a:ext cx="6534150" cy="15811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01451" y="6441747"/>
            <a:ext cx="177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630" y="545211"/>
            <a:ext cx="539369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220" dirty="0"/>
              <a:t>Success</a:t>
            </a:r>
            <a:r>
              <a:rPr sz="3600" spc="-25" dirty="0"/>
              <a:t> </a:t>
            </a:r>
            <a:r>
              <a:rPr sz="3600" spc="-165" dirty="0"/>
              <a:t>Rate</a:t>
            </a:r>
            <a:r>
              <a:rPr sz="3600" spc="-60" dirty="0"/>
              <a:t> </a:t>
            </a:r>
            <a:r>
              <a:rPr sz="3600" spc="-100" dirty="0"/>
              <a:t>vs.</a:t>
            </a:r>
            <a:r>
              <a:rPr sz="3600" spc="-35" dirty="0"/>
              <a:t> </a:t>
            </a:r>
            <a:r>
              <a:rPr sz="3600" dirty="0"/>
              <a:t>Orbit</a:t>
            </a:r>
            <a:r>
              <a:rPr sz="3600" spc="-70" dirty="0"/>
              <a:t> </a:t>
            </a:r>
            <a:r>
              <a:rPr sz="3600" spc="-125" dirty="0"/>
              <a:t>Type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2630" y="1770951"/>
            <a:ext cx="3543935" cy="126365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080" indent="-229235">
              <a:lnSpc>
                <a:spcPts val="2400"/>
              </a:lnSpc>
              <a:spcBef>
                <a:spcPts val="35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latin typeface="Microsoft Sans Serif"/>
                <a:cs typeface="Microsoft Sans Serif"/>
              </a:rPr>
              <a:t>From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plot,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we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spc="-65" dirty="0">
                <a:latin typeface="Microsoft Sans Serif"/>
                <a:cs typeface="Microsoft Sans Serif"/>
              </a:rPr>
              <a:t>can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see </a:t>
            </a:r>
            <a:r>
              <a:rPr sz="2150" dirty="0">
                <a:latin typeface="Microsoft Sans Serif"/>
                <a:cs typeface="Microsoft Sans Serif"/>
              </a:rPr>
              <a:t>that</a:t>
            </a:r>
            <a:r>
              <a:rPr sz="2150" spc="85" dirty="0">
                <a:latin typeface="Microsoft Sans Serif"/>
                <a:cs typeface="Microsoft Sans Serif"/>
              </a:rPr>
              <a:t> </a:t>
            </a:r>
            <a:r>
              <a:rPr sz="2150" spc="-195" dirty="0">
                <a:latin typeface="Microsoft Sans Serif"/>
                <a:cs typeface="Microsoft Sans Serif"/>
              </a:rPr>
              <a:t>ES-</a:t>
            </a:r>
            <a:r>
              <a:rPr sz="2150" dirty="0">
                <a:latin typeface="Microsoft Sans Serif"/>
                <a:cs typeface="Microsoft Sans Serif"/>
              </a:rPr>
              <a:t>L1,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-204" dirty="0">
                <a:latin typeface="Microsoft Sans Serif"/>
                <a:cs typeface="Microsoft Sans Serif"/>
              </a:rPr>
              <a:t>GEO,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spc="-135" dirty="0">
                <a:latin typeface="Microsoft Sans Serif"/>
                <a:cs typeface="Microsoft Sans Serif"/>
              </a:rPr>
              <a:t>HEO,</a:t>
            </a:r>
            <a:r>
              <a:rPr sz="2150" spc="95" dirty="0">
                <a:latin typeface="Microsoft Sans Serif"/>
                <a:cs typeface="Microsoft Sans Serif"/>
              </a:rPr>
              <a:t> </a:t>
            </a:r>
            <a:r>
              <a:rPr sz="2150" spc="-190" dirty="0">
                <a:latin typeface="Microsoft Sans Serif"/>
                <a:cs typeface="Microsoft Sans Serif"/>
              </a:rPr>
              <a:t>SSO,</a:t>
            </a:r>
            <a:endParaRPr sz="2150">
              <a:latin typeface="Microsoft Sans Serif"/>
              <a:cs typeface="Microsoft Sans Serif"/>
            </a:endParaRPr>
          </a:p>
          <a:p>
            <a:pPr marL="241300">
              <a:lnSpc>
                <a:spcPts val="2195"/>
              </a:lnSpc>
            </a:pPr>
            <a:r>
              <a:rPr sz="2150" spc="-125" dirty="0">
                <a:latin typeface="Microsoft Sans Serif"/>
                <a:cs typeface="Microsoft Sans Serif"/>
              </a:rPr>
              <a:t>VLEO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had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most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spc="-95" dirty="0">
                <a:latin typeface="Microsoft Sans Serif"/>
                <a:cs typeface="Microsoft Sans Serif"/>
              </a:rPr>
              <a:t>success</a:t>
            </a:r>
            <a:endParaRPr sz="2150">
              <a:latin typeface="Microsoft Sans Serif"/>
              <a:cs typeface="Microsoft Sans Serif"/>
            </a:endParaRPr>
          </a:p>
          <a:p>
            <a:pPr marL="241300">
              <a:lnSpc>
                <a:spcPts val="2495"/>
              </a:lnSpc>
            </a:pPr>
            <a:r>
              <a:rPr sz="2150" spc="-10" dirty="0">
                <a:latin typeface="Microsoft Sans Serif"/>
                <a:cs typeface="Microsoft Sans Serif"/>
              </a:rPr>
              <a:t>rate.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6091" y="2278329"/>
            <a:ext cx="6476187" cy="337766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3575"/>
          </a:xfrm>
          <a:custGeom>
            <a:avLst/>
            <a:gdLst/>
            <a:ahLst/>
            <a:cxnLst/>
            <a:rect l="l" t="t" r="r" b="b"/>
            <a:pathLst>
              <a:path w="972820" h="1933575">
                <a:moveTo>
                  <a:pt x="972693" y="0"/>
                </a:moveTo>
                <a:lnTo>
                  <a:pt x="1143" y="966724"/>
                </a:lnTo>
                <a:lnTo>
                  <a:pt x="178384" y="1143114"/>
                </a:lnTo>
                <a:lnTo>
                  <a:pt x="0" y="1321562"/>
                </a:lnTo>
                <a:lnTo>
                  <a:pt x="348615" y="1670177"/>
                </a:lnTo>
                <a:lnTo>
                  <a:pt x="527900" y="1490954"/>
                </a:lnTo>
                <a:lnTo>
                  <a:pt x="972693" y="1933575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96268" y="6441747"/>
            <a:ext cx="177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2096198"/>
            <a:ext cx="10201275" cy="10248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1300" marR="5080" indent="-229235">
              <a:lnSpc>
                <a:spcPct val="101899"/>
              </a:lnSpc>
              <a:spcBef>
                <a:spcPts val="7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plot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below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shows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vs.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type.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observe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LEO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orbit,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related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flights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whereas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15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4" dirty="0">
                <a:solidFill>
                  <a:srgbClr val="292929"/>
                </a:solidFill>
                <a:latin typeface="Microsoft Sans Serif"/>
                <a:cs typeface="Microsoft Sans Serif"/>
              </a:rPr>
              <a:t>GTO</a:t>
            </a:r>
            <a:r>
              <a:rPr sz="215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orbit, there</a:t>
            </a:r>
            <a:r>
              <a:rPr sz="215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is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no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relationship</a:t>
            </a:r>
            <a:r>
              <a:rPr sz="2150" spc="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flight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number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582041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dirty="0"/>
              <a:t>Flight</a:t>
            </a:r>
            <a:r>
              <a:rPr sz="3650" spc="-15" dirty="0"/>
              <a:t> </a:t>
            </a:r>
            <a:r>
              <a:rPr sz="3650" spc="-40" dirty="0"/>
              <a:t>Number</a:t>
            </a:r>
            <a:r>
              <a:rPr sz="3650" spc="-15" dirty="0"/>
              <a:t> </a:t>
            </a:r>
            <a:r>
              <a:rPr sz="3650" spc="-45" dirty="0"/>
              <a:t>vs.</a:t>
            </a:r>
            <a:r>
              <a:rPr sz="3650" spc="-35" dirty="0"/>
              <a:t> </a:t>
            </a:r>
            <a:r>
              <a:rPr sz="3650" dirty="0"/>
              <a:t>Orbit</a:t>
            </a:r>
            <a:r>
              <a:rPr sz="3650" spc="-10" dirty="0"/>
              <a:t> </a:t>
            </a:r>
            <a:r>
              <a:rPr sz="3650" spc="-105" dirty="0"/>
              <a:t>Type</a:t>
            </a:r>
            <a:endParaRPr sz="3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025" y="3533775"/>
            <a:ext cx="8267700" cy="21050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21</a:t>
            </a:fld>
            <a:endParaRPr spc="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2083435"/>
            <a:ext cx="9992995" cy="6921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can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observe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heavy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payloads,</a:t>
            </a:r>
            <a:r>
              <a:rPr sz="2150" spc="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are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more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PO,</a:t>
            </a:r>
            <a:endParaRPr sz="215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spc="-140" dirty="0">
                <a:solidFill>
                  <a:srgbClr val="292929"/>
                </a:solidFill>
                <a:latin typeface="Microsoft Sans Serif"/>
                <a:cs typeface="Microsoft Sans Serif"/>
              </a:rPr>
              <a:t>LEO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10" dirty="0">
                <a:solidFill>
                  <a:srgbClr val="292929"/>
                </a:solidFill>
                <a:latin typeface="Microsoft Sans Serif"/>
                <a:cs typeface="Microsoft Sans Serif"/>
              </a:rPr>
              <a:t>ISS</a:t>
            </a:r>
            <a:r>
              <a:rPr sz="2150" spc="7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orbits.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453326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80" dirty="0"/>
              <a:t>Payload</a:t>
            </a:r>
            <a:r>
              <a:rPr sz="3650" spc="-35" dirty="0"/>
              <a:t> </a:t>
            </a:r>
            <a:r>
              <a:rPr sz="3650" spc="-50" dirty="0"/>
              <a:t>vs.</a:t>
            </a:r>
            <a:r>
              <a:rPr sz="3650" spc="-15" dirty="0"/>
              <a:t> </a:t>
            </a:r>
            <a:r>
              <a:rPr sz="3650" dirty="0"/>
              <a:t>Orbit</a:t>
            </a:r>
            <a:r>
              <a:rPr sz="3650" spc="-55" dirty="0"/>
              <a:t> </a:t>
            </a:r>
            <a:r>
              <a:rPr sz="3650" spc="-120" dirty="0"/>
              <a:t>Type</a:t>
            </a:r>
            <a:endParaRPr sz="3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429000"/>
            <a:ext cx="9086850" cy="2095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22</a:t>
            </a:fld>
            <a:endParaRPr spc="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630" y="545211"/>
            <a:ext cx="565150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25" dirty="0"/>
              <a:t>Launch</a:t>
            </a:r>
            <a:r>
              <a:rPr sz="3600" spc="-120" dirty="0"/>
              <a:t> </a:t>
            </a:r>
            <a:r>
              <a:rPr sz="3600" spc="-220" dirty="0"/>
              <a:t>Success</a:t>
            </a:r>
            <a:r>
              <a:rPr sz="3600" spc="-20" dirty="0"/>
              <a:t> </a:t>
            </a:r>
            <a:r>
              <a:rPr sz="3600" spc="-120" dirty="0"/>
              <a:t>Yearly</a:t>
            </a:r>
            <a:r>
              <a:rPr sz="3600" spc="-80" dirty="0"/>
              <a:t> </a:t>
            </a:r>
            <a:r>
              <a:rPr sz="3600" spc="-75" dirty="0"/>
              <a:t>Trend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22630" y="1770951"/>
            <a:ext cx="3275329" cy="12636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 marR="5080" indent="-229235">
              <a:lnSpc>
                <a:spcPct val="922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dirty="0">
                <a:latin typeface="Microsoft Sans Serif"/>
                <a:cs typeface="Microsoft Sans Serif"/>
              </a:rPr>
              <a:t>From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plot,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we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can </a:t>
            </a:r>
            <a:r>
              <a:rPr sz="2150" spc="-20" dirty="0">
                <a:latin typeface="Microsoft Sans Serif"/>
                <a:cs typeface="Microsoft Sans Serif"/>
              </a:rPr>
              <a:t>observe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that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spc="-90" dirty="0">
                <a:latin typeface="Microsoft Sans Serif"/>
                <a:cs typeface="Microsoft Sans Serif"/>
              </a:rPr>
              <a:t>success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rate </a:t>
            </a:r>
            <a:r>
              <a:rPr sz="2150" spc="-35" dirty="0">
                <a:latin typeface="Microsoft Sans Serif"/>
                <a:cs typeface="Microsoft Sans Serif"/>
              </a:rPr>
              <a:t>since</a:t>
            </a:r>
            <a:r>
              <a:rPr sz="2150" spc="80" dirty="0">
                <a:latin typeface="Microsoft Sans Serif"/>
                <a:cs typeface="Microsoft Sans Serif"/>
              </a:rPr>
              <a:t> </a:t>
            </a:r>
            <a:r>
              <a:rPr sz="2150" spc="110" dirty="0">
                <a:latin typeface="Microsoft Sans Serif"/>
                <a:cs typeface="Microsoft Sans Serif"/>
              </a:rPr>
              <a:t>2013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kept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on </a:t>
            </a:r>
            <a:r>
              <a:rPr sz="2150" spc="-30" dirty="0">
                <a:latin typeface="Microsoft Sans Serif"/>
                <a:cs typeface="Microsoft Sans Serif"/>
              </a:rPr>
              <a:t>increasing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till</a:t>
            </a:r>
            <a:r>
              <a:rPr sz="2150" spc="40" dirty="0">
                <a:latin typeface="Microsoft Sans Serif"/>
                <a:cs typeface="Microsoft Sans Serif"/>
              </a:rPr>
              <a:t> 2020.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219307" y="0"/>
            <a:ext cx="972819" cy="1933575"/>
          </a:xfrm>
          <a:custGeom>
            <a:avLst/>
            <a:gdLst/>
            <a:ahLst/>
            <a:cxnLst/>
            <a:rect l="l" t="t" r="r" b="b"/>
            <a:pathLst>
              <a:path w="972820" h="1933575">
                <a:moveTo>
                  <a:pt x="972693" y="0"/>
                </a:moveTo>
                <a:lnTo>
                  <a:pt x="1143" y="966724"/>
                </a:lnTo>
                <a:lnTo>
                  <a:pt x="178384" y="1143114"/>
                </a:lnTo>
                <a:lnTo>
                  <a:pt x="0" y="1321562"/>
                </a:lnTo>
                <a:lnTo>
                  <a:pt x="348615" y="1670177"/>
                </a:lnTo>
                <a:lnTo>
                  <a:pt x="527900" y="1490954"/>
                </a:lnTo>
                <a:lnTo>
                  <a:pt x="972693" y="1933575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49905" y="1998868"/>
            <a:ext cx="6200457" cy="34978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70868" y="6441747"/>
            <a:ext cx="2413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23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2630" y="567055"/>
            <a:ext cx="448881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dirty="0"/>
              <a:t>All</a:t>
            </a:r>
            <a:r>
              <a:rPr sz="3650" spc="-110" dirty="0"/>
              <a:t> </a:t>
            </a:r>
            <a:r>
              <a:rPr sz="3650" spc="-80" dirty="0"/>
              <a:t>Launch</a:t>
            </a:r>
            <a:r>
              <a:rPr sz="3650" spc="-65" dirty="0"/>
              <a:t> </a:t>
            </a:r>
            <a:r>
              <a:rPr sz="3650" spc="-45" dirty="0"/>
              <a:t>Site</a:t>
            </a:r>
            <a:r>
              <a:rPr sz="3650" spc="-90" dirty="0"/>
              <a:t> </a:t>
            </a:r>
            <a:r>
              <a:rPr sz="3650" spc="-155" dirty="0"/>
              <a:t>Names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722630" y="1770951"/>
            <a:ext cx="3827145" cy="126365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41300" marR="5080" indent="-229235">
              <a:lnSpc>
                <a:spcPct val="92200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55" dirty="0">
                <a:latin typeface="Microsoft Sans Serif"/>
                <a:cs typeface="Microsoft Sans Serif"/>
              </a:rPr>
              <a:t>We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used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key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word </a:t>
            </a:r>
            <a:r>
              <a:rPr sz="2150" b="1" spc="-75" dirty="0">
                <a:latin typeface="Trebuchet MS"/>
                <a:cs typeface="Trebuchet MS"/>
              </a:rPr>
              <a:t>DISTINCT</a:t>
            </a:r>
            <a:r>
              <a:rPr sz="2150" b="1" spc="-90" dirty="0">
                <a:latin typeface="Trebuchet MS"/>
                <a:cs typeface="Trebuchet MS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to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show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only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spc="-15" dirty="0">
                <a:latin typeface="Microsoft Sans Serif"/>
                <a:cs typeface="Microsoft Sans Serif"/>
              </a:rPr>
              <a:t>unique </a:t>
            </a:r>
            <a:r>
              <a:rPr sz="2150" spc="-30" dirty="0">
                <a:latin typeface="Microsoft Sans Serif"/>
                <a:cs typeface="Microsoft Sans Serif"/>
              </a:rPr>
              <a:t>launch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sites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from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4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SpaceX data.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4958" y="2330280"/>
            <a:ext cx="6189341" cy="328558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3575"/>
          </a:xfrm>
          <a:custGeom>
            <a:avLst/>
            <a:gdLst/>
            <a:ahLst/>
            <a:cxnLst/>
            <a:rect l="l" t="t" r="r" b="b"/>
            <a:pathLst>
              <a:path w="972820" h="1933575">
                <a:moveTo>
                  <a:pt x="972693" y="0"/>
                </a:moveTo>
                <a:lnTo>
                  <a:pt x="1143" y="966724"/>
                </a:lnTo>
                <a:lnTo>
                  <a:pt x="178384" y="1143114"/>
                </a:lnTo>
                <a:lnTo>
                  <a:pt x="0" y="1321562"/>
                </a:lnTo>
                <a:lnTo>
                  <a:pt x="348615" y="1670177"/>
                </a:lnTo>
                <a:lnTo>
                  <a:pt x="527900" y="1490954"/>
                </a:lnTo>
                <a:lnTo>
                  <a:pt x="972693" y="1933575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70868" y="6441747"/>
            <a:ext cx="2413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4932616"/>
            <a:ext cx="9375140" cy="691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2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query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above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display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5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records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where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sites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begin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with</a:t>
            </a:r>
            <a:endParaRPr sz="215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`CCA`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726884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95" dirty="0"/>
              <a:t>Launch</a:t>
            </a:r>
            <a:r>
              <a:rPr sz="3650" spc="-70" dirty="0"/>
              <a:t> </a:t>
            </a:r>
            <a:r>
              <a:rPr sz="3650" spc="-20" dirty="0"/>
              <a:t>Site</a:t>
            </a:r>
            <a:r>
              <a:rPr sz="3650" spc="-30" dirty="0"/>
              <a:t> </a:t>
            </a:r>
            <a:r>
              <a:rPr sz="3650" spc="-170" dirty="0"/>
              <a:t>Names</a:t>
            </a:r>
            <a:r>
              <a:rPr sz="3650" spc="-70" dirty="0"/>
              <a:t> </a:t>
            </a:r>
            <a:r>
              <a:rPr sz="3650" spc="-10" dirty="0"/>
              <a:t>Begin</a:t>
            </a:r>
            <a:r>
              <a:rPr sz="3650" spc="-60" dirty="0"/>
              <a:t> </a:t>
            </a:r>
            <a:r>
              <a:rPr sz="3650" dirty="0"/>
              <a:t>with</a:t>
            </a:r>
            <a:r>
              <a:rPr sz="3650" spc="-55" dirty="0"/>
              <a:t> </a:t>
            </a:r>
            <a:r>
              <a:rPr sz="3650" spc="-155" dirty="0"/>
              <a:t>'CCA'</a:t>
            </a:r>
            <a:endParaRPr sz="3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775" y="1628775"/>
            <a:ext cx="10029825" cy="29051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25</a:t>
            </a:fld>
            <a:endParaRPr spc="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1851405"/>
            <a:ext cx="9042400" cy="6915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0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calculated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total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payload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carried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boosters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from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20" dirty="0">
                <a:solidFill>
                  <a:srgbClr val="292929"/>
                </a:solidFill>
                <a:latin typeface="Microsoft Sans Serif"/>
                <a:cs typeface="Microsoft Sans Serif"/>
              </a:rPr>
              <a:t>NASA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105" dirty="0">
                <a:solidFill>
                  <a:srgbClr val="292929"/>
                </a:solidFill>
                <a:latin typeface="Microsoft Sans Serif"/>
                <a:cs typeface="Microsoft Sans Serif"/>
              </a:rPr>
              <a:t>45596</a:t>
            </a:r>
            <a:endParaRPr sz="2150">
              <a:latin typeface="Microsoft Sans Serif"/>
              <a:cs typeface="Microsoft Sans Serif"/>
            </a:endParaRPr>
          </a:p>
          <a:p>
            <a:pPr marL="241300">
              <a:lnSpc>
                <a:spcPct val="100000"/>
              </a:lnSpc>
              <a:spcBef>
                <a:spcPts val="50"/>
              </a:spcBef>
            </a:pP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using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query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below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369"/>
            <a:ext cx="388874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dirty="0"/>
              <a:t>Total</a:t>
            </a:r>
            <a:r>
              <a:rPr sz="3650" spc="-170" dirty="0"/>
              <a:t> </a:t>
            </a:r>
            <a:r>
              <a:rPr sz="3650" spc="-95" dirty="0"/>
              <a:t>Payload</a:t>
            </a:r>
            <a:r>
              <a:rPr sz="3650" spc="-150" dirty="0"/>
              <a:t> </a:t>
            </a:r>
            <a:r>
              <a:rPr sz="3650" spc="-140" dirty="0"/>
              <a:t>Mass</a:t>
            </a:r>
            <a:endParaRPr sz="3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375" y="2828925"/>
            <a:ext cx="7419975" cy="29432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26</a:t>
            </a:fld>
            <a:endParaRPr spc="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8344" y="581660"/>
            <a:ext cx="2752725" cy="16071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490"/>
              </a:spcBef>
            </a:pPr>
            <a:r>
              <a:rPr sz="3650" spc="-10" dirty="0"/>
              <a:t>Average </a:t>
            </a:r>
            <a:r>
              <a:rPr sz="3650" spc="-80" dirty="0"/>
              <a:t>Payload</a:t>
            </a:r>
            <a:r>
              <a:rPr sz="3650" spc="-130" dirty="0"/>
              <a:t> </a:t>
            </a:r>
            <a:r>
              <a:rPr sz="3650" spc="-200" dirty="0"/>
              <a:t>Mass </a:t>
            </a:r>
            <a:r>
              <a:rPr sz="3650" dirty="0"/>
              <a:t>by</a:t>
            </a:r>
            <a:r>
              <a:rPr sz="3650" spc="45" dirty="0"/>
              <a:t> </a:t>
            </a:r>
            <a:r>
              <a:rPr sz="3650" dirty="0"/>
              <a:t>F9</a:t>
            </a:r>
            <a:r>
              <a:rPr sz="3650" spc="45" dirty="0"/>
              <a:t> </a:t>
            </a:r>
            <a:r>
              <a:rPr sz="3650" spc="-20" dirty="0"/>
              <a:t>v1.1</a:t>
            </a:r>
            <a:endParaRPr sz="3650"/>
          </a:p>
        </p:txBody>
      </p:sp>
      <p:sp>
        <p:nvSpPr>
          <p:cNvPr id="3" name="object 3"/>
          <p:cNvSpPr txBox="1"/>
          <p:nvPr/>
        </p:nvSpPr>
        <p:spPr>
          <a:xfrm>
            <a:off x="728344" y="2427287"/>
            <a:ext cx="3180080" cy="11550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5080" indent="-228600">
              <a:lnSpc>
                <a:spcPct val="89700"/>
              </a:lnSpc>
              <a:spcBef>
                <a:spcPts val="375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85" dirty="0">
                <a:latin typeface="Microsoft Sans Serif"/>
                <a:cs typeface="Microsoft Sans Serif"/>
              </a:rPr>
              <a:t>We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calculated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average </a:t>
            </a:r>
            <a:r>
              <a:rPr sz="2000" spc="-35" dirty="0">
                <a:latin typeface="Microsoft Sans Serif"/>
                <a:cs typeface="Microsoft Sans Serif"/>
              </a:rPr>
              <a:t>payload</a:t>
            </a:r>
            <a:r>
              <a:rPr sz="2000" spc="-100" dirty="0">
                <a:latin typeface="Microsoft Sans Serif"/>
                <a:cs typeface="Microsoft Sans Serif"/>
              </a:rPr>
              <a:t> </a:t>
            </a:r>
            <a:r>
              <a:rPr sz="2000" spc="-114" dirty="0">
                <a:latin typeface="Microsoft Sans Serif"/>
                <a:cs typeface="Microsoft Sans Serif"/>
              </a:rPr>
              <a:t>mass</a:t>
            </a:r>
            <a:r>
              <a:rPr sz="2000" spc="-20" dirty="0">
                <a:latin typeface="Microsoft Sans Serif"/>
                <a:cs typeface="Microsoft Sans Serif"/>
              </a:rPr>
              <a:t> carried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by </a:t>
            </a:r>
            <a:r>
              <a:rPr sz="2000" dirty="0">
                <a:latin typeface="Microsoft Sans Serif"/>
                <a:cs typeface="Microsoft Sans Serif"/>
              </a:rPr>
              <a:t>booster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version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F9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v1.1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as </a:t>
            </a:r>
            <a:r>
              <a:rPr sz="2000" spc="60" dirty="0">
                <a:latin typeface="Microsoft Sans Serif"/>
                <a:cs typeface="Microsoft Sans Serif"/>
              </a:rPr>
              <a:t>2928.4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38675" y="0"/>
            <a:ext cx="7553325" cy="6858000"/>
            <a:chOff x="4638675" y="0"/>
            <a:chExt cx="7553325" cy="6858000"/>
          </a:xfrm>
        </p:grpSpPr>
        <p:sp>
          <p:nvSpPr>
            <p:cNvPr id="5" name="object 5"/>
            <p:cNvSpPr/>
            <p:nvPr/>
          </p:nvSpPr>
          <p:spPr>
            <a:xfrm>
              <a:off x="4638675" y="0"/>
              <a:ext cx="7553325" cy="6858000"/>
            </a:xfrm>
            <a:custGeom>
              <a:avLst/>
              <a:gdLst/>
              <a:ahLst/>
              <a:cxnLst/>
              <a:rect l="l" t="t" r="r" b="b"/>
              <a:pathLst>
                <a:path w="7553325" h="6858000">
                  <a:moveTo>
                    <a:pt x="75533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553325" y="6858000"/>
                  </a:lnTo>
                  <a:lnTo>
                    <a:pt x="7553325" y="0"/>
                  </a:lnTo>
                  <a:close/>
                </a:path>
              </a:pathLst>
            </a:custGeom>
            <a:solidFill>
              <a:srgbClr val="C7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7775" y="514286"/>
              <a:ext cx="6719951" cy="58722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29276" y="566724"/>
              <a:ext cx="6581775" cy="5734050"/>
            </a:xfrm>
            <a:custGeom>
              <a:avLst/>
              <a:gdLst/>
              <a:ahLst/>
              <a:cxnLst/>
              <a:rect l="l" t="t" r="r" b="b"/>
              <a:pathLst>
                <a:path w="6581775" h="5734050">
                  <a:moveTo>
                    <a:pt x="6581775" y="0"/>
                  </a:moveTo>
                  <a:lnTo>
                    <a:pt x="0" y="0"/>
                  </a:lnTo>
                  <a:lnTo>
                    <a:pt x="0" y="5733923"/>
                  </a:lnTo>
                  <a:lnTo>
                    <a:pt x="6581775" y="5733923"/>
                  </a:lnTo>
                  <a:lnTo>
                    <a:pt x="65817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129276" y="566724"/>
              <a:ext cx="6581775" cy="5734050"/>
            </a:xfrm>
            <a:custGeom>
              <a:avLst/>
              <a:gdLst/>
              <a:ahLst/>
              <a:cxnLst/>
              <a:rect l="l" t="t" r="r" b="b"/>
              <a:pathLst>
                <a:path w="6581775" h="5734050">
                  <a:moveTo>
                    <a:pt x="0" y="5733923"/>
                  </a:moveTo>
                  <a:lnTo>
                    <a:pt x="6581775" y="5733923"/>
                  </a:lnTo>
                  <a:lnTo>
                    <a:pt x="6581775" y="0"/>
                  </a:lnTo>
                  <a:lnTo>
                    <a:pt x="0" y="0"/>
                  </a:lnTo>
                  <a:lnTo>
                    <a:pt x="0" y="5733923"/>
                  </a:lnTo>
                  <a:close/>
                </a:path>
              </a:pathLst>
            </a:custGeom>
            <a:ln w="9525">
              <a:solidFill>
                <a:srgbClr val="C7C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2219325"/>
              <a:ext cx="6010275" cy="24193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1101451" y="6441747"/>
            <a:ext cx="177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2F2F2F"/>
                </a:solidFill>
                <a:latin typeface="Calibri"/>
                <a:cs typeface="Calibri"/>
              </a:rPr>
              <a:t>27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073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First</a:t>
            </a:r>
            <a:r>
              <a:rPr sz="3600" spc="-160" dirty="0"/>
              <a:t> </a:t>
            </a:r>
            <a:r>
              <a:rPr sz="3600" spc="-165" dirty="0"/>
              <a:t>Successful</a:t>
            </a:r>
            <a:r>
              <a:rPr sz="3600" spc="-75" dirty="0"/>
              <a:t> </a:t>
            </a:r>
            <a:r>
              <a:rPr sz="3600" spc="-85" dirty="0"/>
              <a:t>Ground</a:t>
            </a:r>
            <a:r>
              <a:rPr sz="3600" spc="-145" dirty="0"/>
              <a:t> </a:t>
            </a:r>
            <a:r>
              <a:rPr sz="3600" spc="-35" dirty="0"/>
              <a:t>Landing</a:t>
            </a:r>
            <a:r>
              <a:rPr sz="3600" spc="-145" dirty="0"/>
              <a:t> </a:t>
            </a:r>
            <a:r>
              <a:rPr sz="3600" spc="-20" dirty="0"/>
              <a:t>Date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97230" y="1780603"/>
            <a:ext cx="3728720" cy="103441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66700" marR="30480" indent="-229235">
              <a:lnSpc>
                <a:spcPct val="89200"/>
              </a:lnSpc>
              <a:spcBef>
                <a:spcPts val="335"/>
              </a:spcBef>
              <a:buFont typeface="Arial MT"/>
              <a:buChar char="•"/>
              <a:tabLst>
                <a:tab pos="266700" algn="l"/>
              </a:tabLst>
            </a:pPr>
            <a:r>
              <a:rPr sz="1800" spc="-150" dirty="0">
                <a:latin typeface="Microsoft Sans Serif"/>
                <a:cs typeface="Microsoft Sans Serif"/>
              </a:rPr>
              <a:t>We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40" dirty="0">
                <a:latin typeface="Microsoft Sans Serif"/>
                <a:cs typeface="Microsoft Sans Serif"/>
              </a:rPr>
              <a:t>observed</a:t>
            </a:r>
            <a:r>
              <a:rPr sz="1800" spc="-8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that the</a:t>
            </a:r>
            <a:r>
              <a:rPr sz="1800" spc="-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dates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of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the </a:t>
            </a:r>
            <a:r>
              <a:rPr sz="1800" dirty="0">
                <a:latin typeface="Microsoft Sans Serif"/>
                <a:cs typeface="Microsoft Sans Serif"/>
              </a:rPr>
              <a:t>first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-70" dirty="0">
                <a:latin typeface="Microsoft Sans Serif"/>
                <a:cs typeface="Microsoft Sans Serif"/>
              </a:rPr>
              <a:t>successful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landing</a:t>
            </a:r>
            <a:r>
              <a:rPr sz="1800" spc="-15" dirty="0">
                <a:latin typeface="Microsoft Sans Serif"/>
                <a:cs typeface="Microsoft Sans Serif"/>
              </a:rPr>
              <a:t> </a:t>
            </a:r>
            <a:r>
              <a:rPr sz="1800" spc="-35" dirty="0">
                <a:latin typeface="Microsoft Sans Serif"/>
                <a:cs typeface="Microsoft Sans Serif"/>
              </a:rPr>
              <a:t>outcome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on </a:t>
            </a:r>
            <a:r>
              <a:rPr sz="1800" dirty="0">
                <a:latin typeface="Microsoft Sans Serif"/>
                <a:cs typeface="Microsoft Sans Serif"/>
              </a:rPr>
              <a:t>ground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pad </a:t>
            </a:r>
            <a:r>
              <a:rPr sz="1800" spc="-80" dirty="0">
                <a:latin typeface="Microsoft Sans Serif"/>
                <a:cs typeface="Microsoft Sans Serif"/>
              </a:rPr>
              <a:t>was</a:t>
            </a:r>
            <a:r>
              <a:rPr sz="1800" spc="-35" dirty="0">
                <a:latin typeface="Microsoft Sans Serif"/>
                <a:cs typeface="Microsoft Sans Serif"/>
              </a:rPr>
              <a:t> </a:t>
            </a:r>
            <a:r>
              <a:rPr sz="1800" spc="55" dirty="0">
                <a:latin typeface="Microsoft Sans Serif"/>
                <a:cs typeface="Microsoft Sans Serif"/>
              </a:rPr>
              <a:t>22</a:t>
            </a:r>
            <a:r>
              <a:rPr sz="1800" spc="82" baseline="25462" dirty="0">
                <a:latin typeface="Microsoft Sans Serif"/>
                <a:cs typeface="Microsoft Sans Serif"/>
              </a:rPr>
              <a:t>nd</a:t>
            </a:r>
            <a:r>
              <a:rPr sz="1800" spc="172" baseline="25462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December </a:t>
            </a:r>
            <a:r>
              <a:rPr sz="1800" spc="65" dirty="0">
                <a:latin typeface="Microsoft Sans Serif"/>
                <a:cs typeface="Microsoft Sans Serif"/>
              </a:rPr>
              <a:t>2015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9085" y="2819089"/>
            <a:ext cx="6225214" cy="207769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1219307" y="0"/>
            <a:ext cx="972819" cy="1933575"/>
          </a:xfrm>
          <a:custGeom>
            <a:avLst/>
            <a:gdLst/>
            <a:ahLst/>
            <a:cxnLst/>
            <a:rect l="l" t="t" r="r" b="b"/>
            <a:pathLst>
              <a:path w="972820" h="1933575">
                <a:moveTo>
                  <a:pt x="972693" y="0"/>
                </a:moveTo>
                <a:lnTo>
                  <a:pt x="1143" y="966724"/>
                </a:lnTo>
                <a:lnTo>
                  <a:pt x="178384" y="1143114"/>
                </a:lnTo>
                <a:lnTo>
                  <a:pt x="0" y="1321562"/>
                </a:lnTo>
                <a:lnTo>
                  <a:pt x="348615" y="1670177"/>
                </a:lnTo>
                <a:lnTo>
                  <a:pt x="527900" y="1490954"/>
                </a:lnTo>
                <a:lnTo>
                  <a:pt x="972693" y="1933575"/>
                </a:lnTo>
                <a:lnTo>
                  <a:pt x="972693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70868" y="6441747"/>
            <a:ext cx="2413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28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72819" cy="1933575"/>
          </a:xfrm>
          <a:custGeom>
            <a:avLst/>
            <a:gdLst/>
            <a:ahLst/>
            <a:cxnLst/>
            <a:rect l="l" t="t" r="r" b="b"/>
            <a:pathLst>
              <a:path w="972819" h="1933575">
                <a:moveTo>
                  <a:pt x="972705" y="1321562"/>
                </a:moveTo>
                <a:lnTo>
                  <a:pt x="794296" y="1143127"/>
                </a:lnTo>
                <a:lnTo>
                  <a:pt x="971550" y="966724"/>
                </a:lnTo>
                <a:lnTo>
                  <a:pt x="0" y="0"/>
                </a:lnTo>
                <a:lnTo>
                  <a:pt x="0" y="1933575"/>
                </a:lnTo>
                <a:lnTo>
                  <a:pt x="444766" y="1490967"/>
                </a:lnTo>
                <a:lnTo>
                  <a:pt x="624027" y="1670177"/>
                </a:lnTo>
                <a:lnTo>
                  <a:pt x="972705" y="1321562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2630" y="297815"/>
            <a:ext cx="10480040" cy="107124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5"/>
              </a:spcBef>
            </a:pPr>
            <a:r>
              <a:rPr sz="3600" spc="-165" dirty="0"/>
              <a:t>Successful</a:t>
            </a:r>
            <a:r>
              <a:rPr sz="3600" spc="-75" dirty="0"/>
              <a:t> </a:t>
            </a:r>
            <a:r>
              <a:rPr sz="3600" spc="-25" dirty="0"/>
              <a:t>Drone</a:t>
            </a:r>
            <a:r>
              <a:rPr sz="3600" spc="-95" dirty="0"/>
              <a:t> </a:t>
            </a:r>
            <a:r>
              <a:rPr sz="3600" spc="-70" dirty="0"/>
              <a:t>Ship</a:t>
            </a:r>
            <a:r>
              <a:rPr sz="3600" spc="-95" dirty="0"/>
              <a:t> </a:t>
            </a:r>
            <a:r>
              <a:rPr sz="3600" spc="-35" dirty="0"/>
              <a:t>Landing</a:t>
            </a:r>
            <a:r>
              <a:rPr sz="3600" spc="-100" dirty="0"/>
              <a:t> </a:t>
            </a:r>
            <a:r>
              <a:rPr sz="3600" dirty="0"/>
              <a:t>with</a:t>
            </a:r>
            <a:r>
              <a:rPr sz="3600" spc="-70" dirty="0"/>
              <a:t> </a:t>
            </a:r>
            <a:r>
              <a:rPr sz="3600" spc="-120" dirty="0"/>
              <a:t>Payload</a:t>
            </a:r>
            <a:r>
              <a:rPr sz="3600" spc="-95" dirty="0"/>
              <a:t> </a:t>
            </a:r>
            <a:r>
              <a:rPr sz="3600" spc="-30" dirty="0"/>
              <a:t>between </a:t>
            </a:r>
            <a:r>
              <a:rPr sz="3600" spc="160" dirty="0"/>
              <a:t>4000</a:t>
            </a:r>
            <a:r>
              <a:rPr sz="3600" spc="-10" dirty="0"/>
              <a:t> </a:t>
            </a:r>
            <a:r>
              <a:rPr sz="3600" dirty="0"/>
              <a:t>and</a:t>
            </a:r>
            <a:r>
              <a:rPr sz="3600" spc="-65" dirty="0"/>
              <a:t> </a:t>
            </a:r>
            <a:r>
              <a:rPr sz="3600" spc="140" dirty="0"/>
              <a:t>6000</a:t>
            </a:r>
            <a:endParaRPr sz="36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781175"/>
            <a:ext cx="6248400" cy="42862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28508" y="1771078"/>
            <a:ext cx="3823970" cy="225171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marR="5080" indent="-229235">
              <a:lnSpc>
                <a:spcPct val="898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80" dirty="0">
                <a:latin typeface="Microsoft Sans Serif"/>
                <a:cs typeface="Microsoft Sans Serif"/>
              </a:rPr>
              <a:t>We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used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WHERE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clause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20" dirty="0">
                <a:latin typeface="Microsoft Sans Serif"/>
                <a:cs typeface="Microsoft Sans Serif"/>
              </a:rPr>
              <a:t>to </a:t>
            </a:r>
            <a:r>
              <a:rPr sz="2000" dirty="0">
                <a:latin typeface="Microsoft Sans Serif"/>
                <a:cs typeface="Microsoft Sans Serif"/>
              </a:rPr>
              <a:t>filter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boosters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which</a:t>
            </a:r>
            <a:r>
              <a:rPr sz="2000" spc="5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have </a:t>
            </a:r>
            <a:r>
              <a:rPr sz="2000" spc="-75" dirty="0">
                <a:latin typeface="Microsoft Sans Serif"/>
                <a:cs typeface="Microsoft Sans Serif"/>
              </a:rPr>
              <a:t>successfully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landed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on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drone </a:t>
            </a:r>
            <a:r>
              <a:rPr sz="2000" dirty="0">
                <a:latin typeface="Microsoft Sans Serif"/>
                <a:cs typeface="Microsoft Sans Serif"/>
              </a:rPr>
              <a:t>ship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and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applied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b="1" spc="-25" dirty="0">
                <a:latin typeface="Trebuchet MS"/>
                <a:cs typeface="Trebuchet MS"/>
              </a:rPr>
              <a:t>AND </a:t>
            </a:r>
            <a:r>
              <a:rPr sz="2000" dirty="0">
                <a:latin typeface="Microsoft Sans Serif"/>
                <a:cs typeface="Microsoft Sans Serif"/>
              </a:rPr>
              <a:t>condition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to</a:t>
            </a:r>
            <a:r>
              <a:rPr sz="2000" spc="4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determine </a:t>
            </a:r>
            <a:r>
              <a:rPr sz="2000" spc="-75" dirty="0">
                <a:latin typeface="Microsoft Sans Serif"/>
                <a:cs typeface="Microsoft Sans Serif"/>
              </a:rPr>
              <a:t>successful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landing </a:t>
            </a:r>
            <a:r>
              <a:rPr sz="2000" dirty="0">
                <a:latin typeface="Microsoft Sans Serif"/>
                <a:cs typeface="Microsoft Sans Serif"/>
              </a:rPr>
              <a:t>with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payload </a:t>
            </a:r>
            <a:r>
              <a:rPr sz="2000" spc="-110" dirty="0">
                <a:latin typeface="Microsoft Sans Serif"/>
                <a:cs typeface="Microsoft Sans Serif"/>
              </a:rPr>
              <a:t>mass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greater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90" dirty="0">
                <a:latin typeface="Microsoft Sans Serif"/>
                <a:cs typeface="Microsoft Sans Serif"/>
              </a:rPr>
              <a:t>4000</a:t>
            </a:r>
            <a:r>
              <a:rPr sz="2000" spc="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but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less </a:t>
            </a:r>
            <a:r>
              <a:rPr sz="2000" dirty="0">
                <a:latin typeface="Microsoft Sans Serif"/>
                <a:cs typeface="Microsoft Sans Serif"/>
              </a:rPr>
              <a:t>than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90" dirty="0">
                <a:latin typeface="Microsoft Sans Serif"/>
                <a:cs typeface="Microsoft Sans Serif"/>
              </a:rPr>
              <a:t>6000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177905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5" h="2019300">
                <a:moveTo>
                  <a:pt x="1014095" y="0"/>
                </a:moveTo>
                <a:lnTo>
                  <a:pt x="4445" y="1009650"/>
                </a:lnTo>
                <a:lnTo>
                  <a:pt x="182867" y="1188085"/>
                </a:lnTo>
                <a:lnTo>
                  <a:pt x="0" y="1370926"/>
                </a:lnTo>
                <a:lnTo>
                  <a:pt x="343408" y="1714271"/>
                </a:lnTo>
                <a:lnTo>
                  <a:pt x="526211" y="1531429"/>
                </a:lnTo>
                <a:lnTo>
                  <a:pt x="1014095" y="2019300"/>
                </a:lnTo>
                <a:lnTo>
                  <a:pt x="1014095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270868" y="6441747"/>
            <a:ext cx="2413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29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72819" cy="1933575"/>
          </a:xfrm>
          <a:custGeom>
            <a:avLst/>
            <a:gdLst/>
            <a:ahLst/>
            <a:cxnLst/>
            <a:rect l="l" t="t" r="r" b="b"/>
            <a:pathLst>
              <a:path w="972819" h="1933575">
                <a:moveTo>
                  <a:pt x="972705" y="1321562"/>
                </a:moveTo>
                <a:lnTo>
                  <a:pt x="794296" y="1143127"/>
                </a:lnTo>
                <a:lnTo>
                  <a:pt x="971550" y="966724"/>
                </a:lnTo>
                <a:lnTo>
                  <a:pt x="0" y="0"/>
                </a:lnTo>
                <a:lnTo>
                  <a:pt x="0" y="1933575"/>
                </a:lnTo>
                <a:lnTo>
                  <a:pt x="444766" y="1490967"/>
                </a:lnTo>
                <a:lnTo>
                  <a:pt x="624027" y="1670177"/>
                </a:lnTo>
                <a:lnTo>
                  <a:pt x="972705" y="1321562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5"/>
              </a:spcBef>
            </a:pPr>
            <a:r>
              <a:rPr sz="3600" spc="-25" dirty="0"/>
              <a:t>Total</a:t>
            </a:r>
            <a:r>
              <a:rPr sz="3600" spc="-95" dirty="0"/>
              <a:t> </a:t>
            </a:r>
            <a:r>
              <a:rPr sz="3600" spc="-90" dirty="0"/>
              <a:t>Number </a:t>
            </a:r>
            <a:r>
              <a:rPr sz="3600" dirty="0"/>
              <a:t>of</a:t>
            </a:r>
            <a:r>
              <a:rPr sz="3600" spc="-85" dirty="0"/>
              <a:t> </a:t>
            </a:r>
            <a:r>
              <a:rPr sz="3600" spc="-165" dirty="0"/>
              <a:t>Successful</a:t>
            </a:r>
            <a:r>
              <a:rPr sz="3600" spc="-75" dirty="0"/>
              <a:t> </a:t>
            </a:r>
            <a:r>
              <a:rPr sz="3600" dirty="0"/>
              <a:t>and</a:t>
            </a:r>
            <a:r>
              <a:rPr sz="3600" spc="-114" dirty="0"/>
              <a:t> </a:t>
            </a:r>
            <a:r>
              <a:rPr sz="3600" spc="-75" dirty="0"/>
              <a:t>Failure</a:t>
            </a:r>
            <a:r>
              <a:rPr sz="3600" spc="-95" dirty="0"/>
              <a:t> </a:t>
            </a:r>
            <a:r>
              <a:rPr sz="3600" spc="-55" dirty="0"/>
              <a:t>Mission </a:t>
            </a:r>
            <a:r>
              <a:rPr sz="3600" spc="-10" dirty="0"/>
              <a:t>Outcomes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628508" y="1771078"/>
            <a:ext cx="3831590" cy="8782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29235">
              <a:lnSpc>
                <a:spcPct val="892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80" dirty="0">
                <a:latin typeface="Microsoft Sans Serif"/>
                <a:cs typeface="Microsoft Sans Serif"/>
              </a:rPr>
              <a:t>We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45" dirty="0">
                <a:latin typeface="Microsoft Sans Serif"/>
                <a:cs typeface="Microsoft Sans Serif"/>
              </a:rPr>
              <a:t>used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wildcard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like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‘%’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30" dirty="0">
                <a:latin typeface="Microsoft Sans Serif"/>
                <a:cs typeface="Microsoft Sans Serif"/>
              </a:rPr>
              <a:t>to </a:t>
            </a:r>
            <a:r>
              <a:rPr sz="2000" dirty="0">
                <a:latin typeface="Microsoft Sans Serif"/>
                <a:cs typeface="Microsoft Sans Serif"/>
              </a:rPr>
              <a:t>filter</a:t>
            </a:r>
            <a:r>
              <a:rPr sz="2000" spc="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WHERE</a:t>
            </a:r>
            <a:r>
              <a:rPr sz="2000" b="1" spc="1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Microsoft Sans Serif"/>
                <a:cs typeface="Microsoft Sans Serif"/>
              </a:rPr>
              <a:t>MissionOutcome </a:t>
            </a:r>
            <a:r>
              <a:rPr sz="2000" spc="-90" dirty="0">
                <a:latin typeface="Microsoft Sans Serif"/>
                <a:cs typeface="Microsoft Sans Serif"/>
              </a:rPr>
              <a:t>was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110" dirty="0">
                <a:latin typeface="Microsoft Sans Serif"/>
                <a:cs typeface="Microsoft Sans Serif"/>
              </a:rPr>
              <a:t>success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 a </a:t>
            </a:r>
            <a:r>
              <a:rPr sz="2000" spc="-10" dirty="0">
                <a:latin typeface="Microsoft Sans Serif"/>
                <a:cs typeface="Microsoft Sans Serif"/>
              </a:rPr>
              <a:t>failure.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177905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5" h="2019300">
                <a:moveTo>
                  <a:pt x="1014095" y="0"/>
                </a:moveTo>
                <a:lnTo>
                  <a:pt x="4445" y="1009650"/>
                </a:lnTo>
                <a:lnTo>
                  <a:pt x="182867" y="1188085"/>
                </a:lnTo>
                <a:lnTo>
                  <a:pt x="0" y="1370926"/>
                </a:lnTo>
                <a:lnTo>
                  <a:pt x="343408" y="1714271"/>
                </a:lnTo>
                <a:lnTo>
                  <a:pt x="526211" y="1531429"/>
                </a:lnTo>
                <a:lnTo>
                  <a:pt x="1014095" y="2019300"/>
                </a:lnTo>
                <a:lnTo>
                  <a:pt x="1014095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" y="1457325"/>
            <a:ext cx="5105400" cy="46291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70868" y="6441747"/>
            <a:ext cx="2413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30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657850" cy="6858000"/>
          </a:xfrm>
          <a:custGeom>
            <a:avLst/>
            <a:gdLst/>
            <a:ahLst/>
            <a:cxnLst/>
            <a:rect l="l" t="t" r="r" b="b"/>
            <a:pathLst>
              <a:path w="5657850" h="6858000">
                <a:moveTo>
                  <a:pt x="5167376" y="0"/>
                </a:moveTo>
                <a:lnTo>
                  <a:pt x="0" y="0"/>
                </a:lnTo>
                <a:lnTo>
                  <a:pt x="0" y="6857999"/>
                </a:lnTo>
                <a:lnTo>
                  <a:pt x="5657850" y="6857999"/>
                </a:lnTo>
                <a:lnTo>
                  <a:pt x="4725416" y="6857997"/>
                </a:lnTo>
                <a:lnTo>
                  <a:pt x="4707763" y="6843646"/>
                </a:lnTo>
                <a:lnTo>
                  <a:pt x="4703181" y="6838021"/>
                </a:lnTo>
                <a:lnTo>
                  <a:pt x="4700730" y="6831944"/>
                </a:lnTo>
                <a:lnTo>
                  <a:pt x="4701065" y="6825243"/>
                </a:lnTo>
                <a:lnTo>
                  <a:pt x="4704842" y="6817744"/>
                </a:lnTo>
                <a:lnTo>
                  <a:pt x="4696243" y="6793453"/>
                </a:lnTo>
                <a:lnTo>
                  <a:pt x="4694253" y="6784271"/>
                </a:lnTo>
                <a:lnTo>
                  <a:pt x="4698001" y="6777285"/>
                </a:lnTo>
                <a:lnTo>
                  <a:pt x="4706620" y="6759581"/>
                </a:lnTo>
                <a:lnTo>
                  <a:pt x="4703417" y="6742570"/>
                </a:lnTo>
                <a:lnTo>
                  <a:pt x="4699285" y="6730314"/>
                </a:lnTo>
                <a:lnTo>
                  <a:pt x="4695868" y="6719121"/>
                </a:lnTo>
                <a:lnTo>
                  <a:pt x="4694809" y="6705295"/>
                </a:lnTo>
                <a:lnTo>
                  <a:pt x="4692102" y="6686648"/>
                </a:lnTo>
                <a:lnTo>
                  <a:pt x="4690872" y="6672630"/>
                </a:lnTo>
                <a:lnTo>
                  <a:pt x="4688593" y="6658860"/>
                </a:lnTo>
                <a:lnTo>
                  <a:pt x="4682744" y="6640957"/>
                </a:lnTo>
                <a:lnTo>
                  <a:pt x="4676711" y="6609607"/>
                </a:lnTo>
                <a:lnTo>
                  <a:pt x="4675632" y="6585858"/>
                </a:lnTo>
                <a:lnTo>
                  <a:pt x="4678426" y="6541312"/>
                </a:lnTo>
                <a:lnTo>
                  <a:pt x="4675762" y="6500712"/>
                </a:lnTo>
                <a:lnTo>
                  <a:pt x="4670075" y="6456632"/>
                </a:lnTo>
                <a:lnTo>
                  <a:pt x="4656582" y="6370256"/>
                </a:lnTo>
                <a:lnTo>
                  <a:pt x="4649245" y="6331777"/>
                </a:lnTo>
                <a:lnTo>
                  <a:pt x="4640754" y="6295085"/>
                </a:lnTo>
                <a:lnTo>
                  <a:pt x="4634239" y="6259649"/>
                </a:lnTo>
                <a:lnTo>
                  <a:pt x="4632833" y="6224943"/>
                </a:lnTo>
                <a:lnTo>
                  <a:pt x="4629277" y="6089688"/>
                </a:lnTo>
                <a:lnTo>
                  <a:pt x="4624083" y="6050534"/>
                </a:lnTo>
                <a:lnTo>
                  <a:pt x="4618402" y="6018871"/>
                </a:lnTo>
                <a:lnTo>
                  <a:pt x="4617936" y="5993692"/>
                </a:lnTo>
                <a:lnTo>
                  <a:pt x="4628388" y="5973991"/>
                </a:lnTo>
                <a:lnTo>
                  <a:pt x="4625314" y="5956603"/>
                </a:lnTo>
                <a:lnTo>
                  <a:pt x="4628943" y="5950172"/>
                </a:lnTo>
                <a:lnTo>
                  <a:pt x="4633406" y="5947112"/>
                </a:lnTo>
                <a:lnTo>
                  <a:pt x="4632833" y="5939840"/>
                </a:lnTo>
                <a:lnTo>
                  <a:pt x="4613402" y="5906465"/>
                </a:lnTo>
                <a:lnTo>
                  <a:pt x="4609211" y="5862701"/>
                </a:lnTo>
                <a:lnTo>
                  <a:pt x="4609048" y="5850711"/>
                </a:lnTo>
                <a:lnTo>
                  <a:pt x="4609433" y="5845257"/>
                </a:lnTo>
                <a:lnTo>
                  <a:pt x="4610532" y="5838680"/>
                </a:lnTo>
                <a:lnTo>
                  <a:pt x="4612513" y="5823318"/>
                </a:lnTo>
                <a:lnTo>
                  <a:pt x="4611370" y="5769229"/>
                </a:lnTo>
                <a:lnTo>
                  <a:pt x="4615465" y="5744365"/>
                </a:lnTo>
                <a:lnTo>
                  <a:pt x="4621514" y="5691372"/>
                </a:lnTo>
                <a:lnTo>
                  <a:pt x="4625467" y="5667895"/>
                </a:lnTo>
                <a:lnTo>
                  <a:pt x="4624099" y="5651512"/>
                </a:lnTo>
                <a:lnTo>
                  <a:pt x="4629864" y="5633042"/>
                </a:lnTo>
                <a:lnTo>
                  <a:pt x="4637557" y="5613669"/>
                </a:lnTo>
                <a:lnTo>
                  <a:pt x="4641977" y="5594578"/>
                </a:lnTo>
                <a:lnTo>
                  <a:pt x="4637565" y="5552032"/>
                </a:lnTo>
                <a:lnTo>
                  <a:pt x="4637738" y="5527767"/>
                </a:lnTo>
                <a:lnTo>
                  <a:pt x="4639173" y="5504306"/>
                </a:lnTo>
                <a:lnTo>
                  <a:pt x="4638548" y="5464175"/>
                </a:lnTo>
                <a:lnTo>
                  <a:pt x="4633638" y="5412934"/>
                </a:lnTo>
                <a:lnTo>
                  <a:pt x="4629277" y="5358955"/>
                </a:lnTo>
                <a:lnTo>
                  <a:pt x="4622673" y="5269738"/>
                </a:lnTo>
                <a:lnTo>
                  <a:pt x="4620144" y="5242941"/>
                </a:lnTo>
                <a:lnTo>
                  <a:pt x="4618069" y="5225097"/>
                </a:lnTo>
                <a:lnTo>
                  <a:pt x="4617279" y="5214874"/>
                </a:lnTo>
                <a:lnTo>
                  <a:pt x="4618609" y="5210937"/>
                </a:lnTo>
                <a:lnTo>
                  <a:pt x="4602809" y="5178859"/>
                </a:lnTo>
                <a:lnTo>
                  <a:pt x="4602511" y="5153961"/>
                </a:lnTo>
                <a:lnTo>
                  <a:pt x="4607214" y="5132659"/>
                </a:lnTo>
                <a:lnTo>
                  <a:pt x="4606417" y="5111369"/>
                </a:lnTo>
                <a:lnTo>
                  <a:pt x="4609889" y="5074626"/>
                </a:lnTo>
                <a:lnTo>
                  <a:pt x="4612671" y="5048027"/>
                </a:lnTo>
                <a:lnTo>
                  <a:pt x="4614167" y="5027572"/>
                </a:lnTo>
                <a:lnTo>
                  <a:pt x="4613783" y="5009261"/>
                </a:lnTo>
                <a:lnTo>
                  <a:pt x="4626850" y="4989258"/>
                </a:lnTo>
                <a:lnTo>
                  <a:pt x="4643167" y="4968970"/>
                </a:lnTo>
                <a:lnTo>
                  <a:pt x="4652984" y="4947967"/>
                </a:lnTo>
                <a:lnTo>
                  <a:pt x="4646549" y="4925822"/>
                </a:lnTo>
                <a:lnTo>
                  <a:pt x="4656542" y="4922055"/>
                </a:lnTo>
                <a:lnTo>
                  <a:pt x="4654772" y="4907788"/>
                </a:lnTo>
                <a:lnTo>
                  <a:pt x="4652192" y="4890567"/>
                </a:lnTo>
                <a:lnTo>
                  <a:pt x="4659757" y="4877943"/>
                </a:lnTo>
                <a:lnTo>
                  <a:pt x="4669337" y="4871809"/>
                </a:lnTo>
                <a:lnTo>
                  <a:pt x="4672965" y="4863544"/>
                </a:lnTo>
                <a:lnTo>
                  <a:pt x="4673830" y="4854065"/>
                </a:lnTo>
                <a:lnTo>
                  <a:pt x="4675124" y="4844288"/>
                </a:lnTo>
                <a:lnTo>
                  <a:pt x="4686675" y="4824585"/>
                </a:lnTo>
                <a:lnTo>
                  <a:pt x="4694951" y="4791440"/>
                </a:lnTo>
                <a:lnTo>
                  <a:pt x="4698394" y="4756937"/>
                </a:lnTo>
                <a:lnTo>
                  <a:pt x="4695444" y="4733163"/>
                </a:lnTo>
                <a:lnTo>
                  <a:pt x="4700658" y="4698882"/>
                </a:lnTo>
                <a:lnTo>
                  <a:pt x="4705350" y="4673139"/>
                </a:lnTo>
                <a:lnTo>
                  <a:pt x="4707374" y="4650420"/>
                </a:lnTo>
                <a:lnTo>
                  <a:pt x="4704588" y="4625213"/>
                </a:lnTo>
                <a:lnTo>
                  <a:pt x="4703397" y="4600203"/>
                </a:lnTo>
                <a:lnTo>
                  <a:pt x="4705826" y="4579064"/>
                </a:lnTo>
                <a:lnTo>
                  <a:pt x="4711160" y="4559472"/>
                </a:lnTo>
                <a:lnTo>
                  <a:pt x="4718685" y="4539107"/>
                </a:lnTo>
                <a:lnTo>
                  <a:pt x="4719193" y="4488561"/>
                </a:lnTo>
                <a:lnTo>
                  <a:pt x="4719776" y="4473672"/>
                </a:lnTo>
                <a:lnTo>
                  <a:pt x="4721955" y="4453937"/>
                </a:lnTo>
                <a:lnTo>
                  <a:pt x="4724657" y="4432178"/>
                </a:lnTo>
                <a:lnTo>
                  <a:pt x="4726813" y="4411218"/>
                </a:lnTo>
                <a:lnTo>
                  <a:pt x="4717520" y="4362126"/>
                </a:lnTo>
                <a:lnTo>
                  <a:pt x="4720955" y="4313475"/>
                </a:lnTo>
                <a:lnTo>
                  <a:pt x="4726652" y="4265753"/>
                </a:lnTo>
                <a:lnTo>
                  <a:pt x="4724146" y="4219448"/>
                </a:lnTo>
                <a:lnTo>
                  <a:pt x="4725955" y="4192242"/>
                </a:lnTo>
                <a:lnTo>
                  <a:pt x="4726856" y="4174504"/>
                </a:lnTo>
                <a:lnTo>
                  <a:pt x="4730574" y="4153236"/>
                </a:lnTo>
                <a:lnTo>
                  <a:pt x="4740832" y="4115442"/>
                </a:lnTo>
                <a:lnTo>
                  <a:pt x="4761357" y="4048125"/>
                </a:lnTo>
                <a:lnTo>
                  <a:pt x="4763720" y="4011412"/>
                </a:lnTo>
                <a:lnTo>
                  <a:pt x="4771310" y="3960828"/>
                </a:lnTo>
                <a:lnTo>
                  <a:pt x="4775162" y="3911411"/>
                </a:lnTo>
                <a:lnTo>
                  <a:pt x="4766310" y="3878199"/>
                </a:lnTo>
                <a:lnTo>
                  <a:pt x="4762902" y="3847988"/>
                </a:lnTo>
                <a:lnTo>
                  <a:pt x="4762579" y="3831971"/>
                </a:lnTo>
                <a:lnTo>
                  <a:pt x="4759326" y="3814048"/>
                </a:lnTo>
                <a:lnTo>
                  <a:pt x="4747133" y="3778123"/>
                </a:lnTo>
                <a:lnTo>
                  <a:pt x="4746345" y="3761944"/>
                </a:lnTo>
                <a:lnTo>
                  <a:pt x="4741592" y="3742515"/>
                </a:lnTo>
                <a:lnTo>
                  <a:pt x="4736149" y="3723205"/>
                </a:lnTo>
                <a:lnTo>
                  <a:pt x="4733290" y="3707383"/>
                </a:lnTo>
                <a:lnTo>
                  <a:pt x="4731881" y="3693925"/>
                </a:lnTo>
                <a:lnTo>
                  <a:pt x="4731353" y="3682111"/>
                </a:lnTo>
                <a:lnTo>
                  <a:pt x="4731131" y="3664585"/>
                </a:lnTo>
                <a:lnTo>
                  <a:pt x="4725924" y="3653028"/>
                </a:lnTo>
                <a:lnTo>
                  <a:pt x="4718812" y="3641217"/>
                </a:lnTo>
                <a:lnTo>
                  <a:pt x="4718812" y="3606038"/>
                </a:lnTo>
                <a:lnTo>
                  <a:pt x="4726305" y="3597275"/>
                </a:lnTo>
                <a:lnTo>
                  <a:pt x="4723511" y="3586353"/>
                </a:lnTo>
                <a:lnTo>
                  <a:pt x="4725924" y="3569716"/>
                </a:lnTo>
                <a:lnTo>
                  <a:pt x="4721860" y="3552190"/>
                </a:lnTo>
                <a:lnTo>
                  <a:pt x="4714748" y="3542029"/>
                </a:lnTo>
                <a:lnTo>
                  <a:pt x="4705731" y="3531235"/>
                </a:lnTo>
                <a:lnTo>
                  <a:pt x="4699381" y="3496437"/>
                </a:lnTo>
                <a:lnTo>
                  <a:pt x="4705350" y="3486912"/>
                </a:lnTo>
                <a:lnTo>
                  <a:pt x="4700651" y="3476371"/>
                </a:lnTo>
                <a:lnTo>
                  <a:pt x="4700000" y="3465256"/>
                </a:lnTo>
                <a:lnTo>
                  <a:pt x="4699000" y="3424554"/>
                </a:lnTo>
                <a:lnTo>
                  <a:pt x="4697222" y="3419855"/>
                </a:lnTo>
                <a:lnTo>
                  <a:pt x="4698746" y="3415157"/>
                </a:lnTo>
                <a:lnTo>
                  <a:pt x="4695317" y="3409823"/>
                </a:lnTo>
                <a:lnTo>
                  <a:pt x="4696968" y="3407029"/>
                </a:lnTo>
                <a:lnTo>
                  <a:pt x="4684649" y="3378962"/>
                </a:lnTo>
                <a:lnTo>
                  <a:pt x="4679315" y="3362960"/>
                </a:lnTo>
                <a:lnTo>
                  <a:pt x="4663440" y="3332099"/>
                </a:lnTo>
                <a:lnTo>
                  <a:pt x="4665472" y="3325622"/>
                </a:lnTo>
                <a:lnTo>
                  <a:pt x="4649343" y="3278124"/>
                </a:lnTo>
                <a:lnTo>
                  <a:pt x="4651502" y="3277235"/>
                </a:lnTo>
                <a:lnTo>
                  <a:pt x="4657217" y="3262629"/>
                </a:lnTo>
                <a:lnTo>
                  <a:pt x="4656074" y="3258692"/>
                </a:lnTo>
                <a:lnTo>
                  <a:pt x="4653694" y="3233951"/>
                </a:lnTo>
                <a:lnTo>
                  <a:pt x="4657613" y="3222497"/>
                </a:lnTo>
                <a:lnTo>
                  <a:pt x="4657556" y="3209615"/>
                </a:lnTo>
                <a:lnTo>
                  <a:pt x="4643247" y="3180588"/>
                </a:lnTo>
                <a:lnTo>
                  <a:pt x="4647535" y="3174103"/>
                </a:lnTo>
                <a:lnTo>
                  <a:pt x="4648787" y="3167475"/>
                </a:lnTo>
                <a:lnTo>
                  <a:pt x="4647301" y="3160228"/>
                </a:lnTo>
                <a:lnTo>
                  <a:pt x="4643374" y="3151886"/>
                </a:lnTo>
                <a:lnTo>
                  <a:pt x="4643709" y="3137275"/>
                </a:lnTo>
                <a:lnTo>
                  <a:pt x="4648152" y="3126724"/>
                </a:lnTo>
                <a:lnTo>
                  <a:pt x="4650142" y="3116720"/>
                </a:lnTo>
                <a:lnTo>
                  <a:pt x="4643120" y="3103753"/>
                </a:lnTo>
                <a:lnTo>
                  <a:pt x="4648315" y="3097224"/>
                </a:lnTo>
                <a:lnTo>
                  <a:pt x="4648104" y="3082099"/>
                </a:lnTo>
                <a:lnTo>
                  <a:pt x="4648227" y="3068212"/>
                </a:lnTo>
                <a:lnTo>
                  <a:pt x="4654423" y="3065399"/>
                </a:lnTo>
                <a:lnTo>
                  <a:pt x="4651281" y="3054244"/>
                </a:lnTo>
                <a:lnTo>
                  <a:pt x="4645580" y="3042269"/>
                </a:lnTo>
                <a:lnTo>
                  <a:pt x="4639188" y="3030555"/>
                </a:lnTo>
                <a:lnTo>
                  <a:pt x="4633976" y="3020187"/>
                </a:lnTo>
                <a:lnTo>
                  <a:pt x="4630564" y="3009606"/>
                </a:lnTo>
                <a:lnTo>
                  <a:pt x="4622170" y="2997398"/>
                </a:lnTo>
                <a:lnTo>
                  <a:pt x="4622546" y="2991104"/>
                </a:lnTo>
                <a:lnTo>
                  <a:pt x="4623943" y="2987802"/>
                </a:lnTo>
                <a:lnTo>
                  <a:pt x="4627372" y="2983484"/>
                </a:lnTo>
                <a:lnTo>
                  <a:pt x="4633722" y="2977261"/>
                </a:lnTo>
                <a:lnTo>
                  <a:pt x="4629009" y="2962288"/>
                </a:lnTo>
                <a:lnTo>
                  <a:pt x="4629832" y="2949019"/>
                </a:lnTo>
                <a:lnTo>
                  <a:pt x="4632918" y="2933487"/>
                </a:lnTo>
                <a:lnTo>
                  <a:pt x="4634992" y="2911729"/>
                </a:lnTo>
                <a:lnTo>
                  <a:pt x="4633610" y="2890170"/>
                </a:lnTo>
                <a:lnTo>
                  <a:pt x="4627753" y="2825877"/>
                </a:lnTo>
                <a:lnTo>
                  <a:pt x="4627753" y="2804160"/>
                </a:lnTo>
                <a:lnTo>
                  <a:pt x="4621149" y="2790190"/>
                </a:lnTo>
                <a:lnTo>
                  <a:pt x="4616450" y="2760217"/>
                </a:lnTo>
                <a:lnTo>
                  <a:pt x="4622546" y="2751074"/>
                </a:lnTo>
                <a:lnTo>
                  <a:pt x="4618609" y="2740279"/>
                </a:lnTo>
                <a:lnTo>
                  <a:pt x="4622292" y="2726436"/>
                </a:lnTo>
                <a:lnTo>
                  <a:pt x="4618228" y="2725039"/>
                </a:lnTo>
                <a:lnTo>
                  <a:pt x="4611116" y="2715895"/>
                </a:lnTo>
                <a:lnTo>
                  <a:pt x="4625086" y="2665603"/>
                </a:lnTo>
                <a:lnTo>
                  <a:pt x="4629785" y="2635377"/>
                </a:lnTo>
                <a:lnTo>
                  <a:pt x="4630039" y="2606040"/>
                </a:lnTo>
                <a:lnTo>
                  <a:pt x="4636262" y="2596515"/>
                </a:lnTo>
                <a:lnTo>
                  <a:pt x="4637299" y="2585321"/>
                </a:lnTo>
                <a:lnTo>
                  <a:pt x="4636373" y="2573448"/>
                </a:lnTo>
                <a:lnTo>
                  <a:pt x="4635136" y="2561457"/>
                </a:lnTo>
                <a:lnTo>
                  <a:pt x="4635246" y="2549905"/>
                </a:lnTo>
                <a:lnTo>
                  <a:pt x="4651248" y="2496439"/>
                </a:lnTo>
                <a:lnTo>
                  <a:pt x="4652779" y="2487505"/>
                </a:lnTo>
                <a:lnTo>
                  <a:pt x="4659749" y="2454826"/>
                </a:lnTo>
                <a:lnTo>
                  <a:pt x="4661281" y="2445892"/>
                </a:lnTo>
                <a:lnTo>
                  <a:pt x="4660403" y="2438939"/>
                </a:lnTo>
                <a:lnTo>
                  <a:pt x="4661316" y="2416032"/>
                </a:lnTo>
                <a:lnTo>
                  <a:pt x="4661154" y="2408936"/>
                </a:lnTo>
                <a:lnTo>
                  <a:pt x="4676751" y="2395970"/>
                </a:lnTo>
                <a:lnTo>
                  <a:pt x="4680585" y="2369312"/>
                </a:lnTo>
                <a:lnTo>
                  <a:pt x="4683371" y="2344177"/>
                </a:lnTo>
                <a:lnTo>
                  <a:pt x="4695825" y="2335784"/>
                </a:lnTo>
                <a:lnTo>
                  <a:pt x="4708665" y="2312866"/>
                </a:lnTo>
                <a:lnTo>
                  <a:pt x="4720542" y="2295985"/>
                </a:lnTo>
                <a:lnTo>
                  <a:pt x="4730632" y="2280080"/>
                </a:lnTo>
                <a:lnTo>
                  <a:pt x="4738116" y="2260091"/>
                </a:lnTo>
                <a:lnTo>
                  <a:pt x="4739800" y="2238386"/>
                </a:lnTo>
                <a:lnTo>
                  <a:pt x="4739306" y="2223611"/>
                </a:lnTo>
                <a:lnTo>
                  <a:pt x="4739455" y="2210407"/>
                </a:lnTo>
                <a:lnTo>
                  <a:pt x="4743069" y="2193416"/>
                </a:lnTo>
                <a:lnTo>
                  <a:pt x="4740451" y="2169882"/>
                </a:lnTo>
                <a:lnTo>
                  <a:pt x="4736798" y="2149157"/>
                </a:lnTo>
                <a:lnTo>
                  <a:pt x="4738407" y="2129194"/>
                </a:lnTo>
                <a:lnTo>
                  <a:pt x="4751578" y="2107946"/>
                </a:lnTo>
                <a:lnTo>
                  <a:pt x="4758182" y="2024252"/>
                </a:lnTo>
                <a:lnTo>
                  <a:pt x="4797044" y="1969389"/>
                </a:lnTo>
                <a:lnTo>
                  <a:pt x="4800981" y="1961134"/>
                </a:lnTo>
                <a:lnTo>
                  <a:pt x="4811903" y="1945132"/>
                </a:lnTo>
                <a:lnTo>
                  <a:pt x="4811014" y="1942084"/>
                </a:lnTo>
                <a:lnTo>
                  <a:pt x="4806061" y="1935607"/>
                </a:lnTo>
                <a:lnTo>
                  <a:pt x="4806303" y="1930048"/>
                </a:lnTo>
                <a:lnTo>
                  <a:pt x="4808982" y="1910207"/>
                </a:lnTo>
                <a:lnTo>
                  <a:pt x="4807331" y="1909952"/>
                </a:lnTo>
                <a:lnTo>
                  <a:pt x="4807331" y="1909190"/>
                </a:lnTo>
                <a:lnTo>
                  <a:pt x="4814316" y="1899412"/>
                </a:lnTo>
                <a:lnTo>
                  <a:pt x="4816221" y="1895094"/>
                </a:lnTo>
                <a:lnTo>
                  <a:pt x="4802378" y="1892427"/>
                </a:lnTo>
                <a:lnTo>
                  <a:pt x="4800064" y="1885209"/>
                </a:lnTo>
                <a:lnTo>
                  <a:pt x="4800917" y="1876123"/>
                </a:lnTo>
                <a:lnTo>
                  <a:pt x="4800913" y="1867441"/>
                </a:lnTo>
                <a:lnTo>
                  <a:pt x="4796028" y="1861439"/>
                </a:lnTo>
                <a:lnTo>
                  <a:pt x="4802520" y="1848897"/>
                </a:lnTo>
                <a:lnTo>
                  <a:pt x="4808347" y="1835785"/>
                </a:lnTo>
                <a:lnTo>
                  <a:pt x="4809998" y="1830577"/>
                </a:lnTo>
                <a:lnTo>
                  <a:pt x="4809744" y="1830451"/>
                </a:lnTo>
                <a:lnTo>
                  <a:pt x="4809490" y="1829180"/>
                </a:lnTo>
                <a:lnTo>
                  <a:pt x="4809744" y="1827529"/>
                </a:lnTo>
                <a:lnTo>
                  <a:pt x="4813173" y="1821052"/>
                </a:lnTo>
                <a:lnTo>
                  <a:pt x="4815713" y="1807083"/>
                </a:lnTo>
                <a:lnTo>
                  <a:pt x="4812411" y="1805304"/>
                </a:lnTo>
                <a:lnTo>
                  <a:pt x="4813173" y="1804415"/>
                </a:lnTo>
                <a:lnTo>
                  <a:pt x="4819378" y="1800494"/>
                </a:lnTo>
                <a:lnTo>
                  <a:pt x="4822904" y="1796954"/>
                </a:lnTo>
                <a:lnTo>
                  <a:pt x="4820548" y="1792128"/>
                </a:lnTo>
                <a:lnTo>
                  <a:pt x="4809109" y="1784350"/>
                </a:lnTo>
                <a:lnTo>
                  <a:pt x="4815881" y="1774447"/>
                </a:lnTo>
                <a:lnTo>
                  <a:pt x="4815665" y="1765522"/>
                </a:lnTo>
                <a:lnTo>
                  <a:pt x="4812805" y="1755024"/>
                </a:lnTo>
                <a:lnTo>
                  <a:pt x="4811649" y="1740408"/>
                </a:lnTo>
                <a:lnTo>
                  <a:pt x="4818798" y="1734377"/>
                </a:lnTo>
                <a:lnTo>
                  <a:pt x="4821602" y="1728263"/>
                </a:lnTo>
                <a:lnTo>
                  <a:pt x="4820953" y="1722030"/>
                </a:lnTo>
                <a:lnTo>
                  <a:pt x="4817745" y="1715642"/>
                </a:lnTo>
                <a:lnTo>
                  <a:pt x="4823698" y="1699595"/>
                </a:lnTo>
                <a:lnTo>
                  <a:pt x="4826031" y="1683083"/>
                </a:lnTo>
                <a:lnTo>
                  <a:pt x="4827174" y="1665833"/>
                </a:lnTo>
                <a:lnTo>
                  <a:pt x="4829556" y="1647571"/>
                </a:lnTo>
                <a:lnTo>
                  <a:pt x="4838965" y="1630136"/>
                </a:lnTo>
                <a:lnTo>
                  <a:pt x="4839398" y="1613915"/>
                </a:lnTo>
                <a:lnTo>
                  <a:pt x="4836878" y="1597314"/>
                </a:lnTo>
                <a:lnTo>
                  <a:pt x="4837430" y="1578737"/>
                </a:lnTo>
                <a:lnTo>
                  <a:pt x="4833366" y="1545971"/>
                </a:lnTo>
                <a:lnTo>
                  <a:pt x="4833993" y="1541117"/>
                </a:lnTo>
                <a:lnTo>
                  <a:pt x="4833524" y="1532572"/>
                </a:lnTo>
                <a:lnTo>
                  <a:pt x="4832223" y="1519682"/>
                </a:lnTo>
                <a:lnTo>
                  <a:pt x="4835525" y="1514855"/>
                </a:lnTo>
                <a:lnTo>
                  <a:pt x="4836721" y="1503048"/>
                </a:lnTo>
                <a:lnTo>
                  <a:pt x="4836828" y="1475386"/>
                </a:lnTo>
                <a:lnTo>
                  <a:pt x="4837811" y="1463294"/>
                </a:lnTo>
                <a:lnTo>
                  <a:pt x="4840759" y="1456991"/>
                </a:lnTo>
                <a:lnTo>
                  <a:pt x="4845018" y="1446307"/>
                </a:lnTo>
                <a:lnTo>
                  <a:pt x="4848562" y="1435862"/>
                </a:lnTo>
                <a:lnTo>
                  <a:pt x="4849368" y="1430274"/>
                </a:lnTo>
                <a:lnTo>
                  <a:pt x="4848352" y="1429512"/>
                </a:lnTo>
                <a:lnTo>
                  <a:pt x="4867529" y="1403985"/>
                </a:lnTo>
                <a:lnTo>
                  <a:pt x="4874768" y="1360932"/>
                </a:lnTo>
                <a:lnTo>
                  <a:pt x="4902835" y="1302003"/>
                </a:lnTo>
                <a:lnTo>
                  <a:pt x="4906518" y="1210817"/>
                </a:lnTo>
                <a:lnTo>
                  <a:pt x="4914735" y="1201622"/>
                </a:lnTo>
                <a:lnTo>
                  <a:pt x="4919011" y="1192022"/>
                </a:lnTo>
                <a:lnTo>
                  <a:pt x="4921073" y="1178421"/>
                </a:lnTo>
                <a:lnTo>
                  <a:pt x="4922647" y="1157224"/>
                </a:lnTo>
                <a:lnTo>
                  <a:pt x="4929122" y="1129377"/>
                </a:lnTo>
                <a:lnTo>
                  <a:pt x="4930917" y="1110472"/>
                </a:lnTo>
                <a:lnTo>
                  <a:pt x="4929308" y="1091447"/>
                </a:lnTo>
                <a:lnTo>
                  <a:pt x="4925568" y="1063244"/>
                </a:lnTo>
                <a:lnTo>
                  <a:pt x="4934364" y="1022986"/>
                </a:lnTo>
                <a:lnTo>
                  <a:pt x="4944983" y="984837"/>
                </a:lnTo>
                <a:lnTo>
                  <a:pt x="4964912" y="942425"/>
                </a:lnTo>
                <a:lnTo>
                  <a:pt x="5001641" y="889380"/>
                </a:lnTo>
                <a:lnTo>
                  <a:pt x="5027803" y="816355"/>
                </a:lnTo>
                <a:lnTo>
                  <a:pt x="5035325" y="804574"/>
                </a:lnTo>
                <a:lnTo>
                  <a:pt x="5046265" y="785828"/>
                </a:lnTo>
                <a:lnTo>
                  <a:pt x="5054895" y="766439"/>
                </a:lnTo>
                <a:lnTo>
                  <a:pt x="5055489" y="752728"/>
                </a:lnTo>
                <a:lnTo>
                  <a:pt x="5070475" y="724408"/>
                </a:lnTo>
                <a:lnTo>
                  <a:pt x="5075809" y="722502"/>
                </a:lnTo>
                <a:lnTo>
                  <a:pt x="5078857" y="717550"/>
                </a:lnTo>
                <a:lnTo>
                  <a:pt x="5078095" y="697229"/>
                </a:lnTo>
                <a:lnTo>
                  <a:pt x="5077714" y="693420"/>
                </a:lnTo>
                <a:lnTo>
                  <a:pt x="5078222" y="690879"/>
                </a:lnTo>
                <a:lnTo>
                  <a:pt x="5079111" y="689228"/>
                </a:lnTo>
                <a:lnTo>
                  <a:pt x="5079619" y="689101"/>
                </a:lnTo>
                <a:lnTo>
                  <a:pt x="5079746" y="681609"/>
                </a:lnTo>
                <a:lnTo>
                  <a:pt x="5088004" y="665227"/>
                </a:lnTo>
                <a:lnTo>
                  <a:pt x="5121402" y="601345"/>
                </a:lnTo>
                <a:lnTo>
                  <a:pt x="5118246" y="590224"/>
                </a:lnTo>
                <a:lnTo>
                  <a:pt x="5115020" y="582294"/>
                </a:lnTo>
                <a:lnTo>
                  <a:pt x="5117365" y="579127"/>
                </a:lnTo>
                <a:lnTo>
                  <a:pt x="5130927" y="582295"/>
                </a:lnTo>
                <a:lnTo>
                  <a:pt x="5131181" y="577088"/>
                </a:lnTo>
                <a:lnTo>
                  <a:pt x="5133975" y="574294"/>
                </a:lnTo>
                <a:lnTo>
                  <a:pt x="5138166" y="572515"/>
                </a:lnTo>
                <a:lnTo>
                  <a:pt x="5140071" y="572135"/>
                </a:lnTo>
                <a:lnTo>
                  <a:pt x="5135753" y="536066"/>
                </a:lnTo>
                <a:lnTo>
                  <a:pt x="5138547" y="531622"/>
                </a:lnTo>
                <a:lnTo>
                  <a:pt x="5124958" y="491363"/>
                </a:lnTo>
                <a:lnTo>
                  <a:pt x="5122037" y="487299"/>
                </a:lnTo>
                <a:lnTo>
                  <a:pt x="5121275" y="481964"/>
                </a:lnTo>
                <a:lnTo>
                  <a:pt x="5125212" y="473837"/>
                </a:lnTo>
                <a:lnTo>
                  <a:pt x="5127117" y="472059"/>
                </a:lnTo>
                <a:lnTo>
                  <a:pt x="5144008" y="354583"/>
                </a:lnTo>
                <a:lnTo>
                  <a:pt x="5144629" y="335603"/>
                </a:lnTo>
                <a:lnTo>
                  <a:pt x="5144881" y="318563"/>
                </a:lnTo>
                <a:lnTo>
                  <a:pt x="5145490" y="297308"/>
                </a:lnTo>
                <a:lnTo>
                  <a:pt x="5147183" y="265683"/>
                </a:lnTo>
                <a:lnTo>
                  <a:pt x="5145823" y="233558"/>
                </a:lnTo>
                <a:lnTo>
                  <a:pt x="5142976" y="218614"/>
                </a:lnTo>
                <a:lnTo>
                  <a:pt x="5140485" y="207551"/>
                </a:lnTo>
                <a:lnTo>
                  <a:pt x="5140198" y="187071"/>
                </a:lnTo>
                <a:lnTo>
                  <a:pt x="5136673" y="144684"/>
                </a:lnTo>
                <a:lnTo>
                  <a:pt x="5138483" y="130349"/>
                </a:lnTo>
                <a:lnTo>
                  <a:pt x="5147056" y="130301"/>
                </a:lnTo>
                <a:lnTo>
                  <a:pt x="5135497" y="96246"/>
                </a:lnTo>
                <a:lnTo>
                  <a:pt x="5141261" y="75406"/>
                </a:lnTo>
                <a:lnTo>
                  <a:pt x="5151288" y="53756"/>
                </a:lnTo>
                <a:lnTo>
                  <a:pt x="5152517" y="17272"/>
                </a:lnTo>
                <a:lnTo>
                  <a:pt x="5158613" y="13843"/>
                </a:lnTo>
                <a:lnTo>
                  <a:pt x="5163312" y="8381"/>
                </a:lnTo>
                <a:lnTo>
                  <a:pt x="5166868" y="1650"/>
                </a:lnTo>
                <a:lnTo>
                  <a:pt x="5167376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7575" y="669924"/>
            <a:ext cx="3650615" cy="11017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4060"/>
              </a:lnSpc>
              <a:spcBef>
                <a:spcPts val="530"/>
              </a:spcBef>
            </a:pPr>
            <a:r>
              <a:rPr sz="3650" spc="-35" dirty="0"/>
              <a:t>Boosters</a:t>
            </a:r>
            <a:r>
              <a:rPr sz="3650" spc="-170" dirty="0"/>
              <a:t> </a:t>
            </a:r>
            <a:r>
              <a:rPr sz="3650" spc="-10" dirty="0"/>
              <a:t>Carried </a:t>
            </a:r>
            <a:r>
              <a:rPr sz="3650" spc="-95" dirty="0"/>
              <a:t>Maximum</a:t>
            </a:r>
            <a:r>
              <a:rPr sz="3650" spc="-114" dirty="0"/>
              <a:t> </a:t>
            </a:r>
            <a:r>
              <a:rPr sz="3650" spc="-110" dirty="0"/>
              <a:t>Payload</a:t>
            </a:r>
            <a:endParaRPr sz="3650"/>
          </a:p>
        </p:txBody>
      </p:sp>
      <p:sp>
        <p:nvSpPr>
          <p:cNvPr id="4" name="object 4"/>
          <p:cNvSpPr txBox="1"/>
          <p:nvPr/>
        </p:nvSpPr>
        <p:spPr>
          <a:xfrm>
            <a:off x="941705" y="2191956"/>
            <a:ext cx="3220085" cy="12141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9235">
              <a:lnSpc>
                <a:spcPct val="893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1700" spc="-145" dirty="0">
                <a:latin typeface="Microsoft Sans Serif"/>
                <a:cs typeface="Microsoft Sans Serif"/>
              </a:rPr>
              <a:t>We</a:t>
            </a:r>
            <a:r>
              <a:rPr sz="1700" spc="30" dirty="0">
                <a:latin typeface="Microsoft Sans Serif"/>
                <a:cs typeface="Microsoft Sans Serif"/>
              </a:rPr>
              <a:t> </a:t>
            </a:r>
            <a:r>
              <a:rPr sz="1700" spc="-25" dirty="0">
                <a:latin typeface="Microsoft Sans Serif"/>
                <a:cs typeface="Microsoft Sans Serif"/>
              </a:rPr>
              <a:t>determined</a:t>
            </a:r>
            <a:r>
              <a:rPr sz="1700" spc="-8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4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booster</a:t>
            </a:r>
            <a:r>
              <a:rPr sz="1700" spc="-65" dirty="0">
                <a:latin typeface="Microsoft Sans Serif"/>
                <a:cs typeface="Microsoft Sans Serif"/>
              </a:rPr>
              <a:t> </a:t>
            </a:r>
            <a:r>
              <a:rPr sz="1700" spc="-20" dirty="0">
                <a:latin typeface="Microsoft Sans Serif"/>
                <a:cs typeface="Microsoft Sans Serif"/>
              </a:rPr>
              <a:t>that </a:t>
            </a:r>
            <a:r>
              <a:rPr sz="1700" spc="-60" dirty="0">
                <a:latin typeface="Microsoft Sans Serif"/>
                <a:cs typeface="Microsoft Sans Serif"/>
              </a:rPr>
              <a:t>have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spc="-25" dirty="0">
                <a:latin typeface="Microsoft Sans Serif"/>
                <a:cs typeface="Microsoft Sans Serif"/>
              </a:rPr>
              <a:t>carried</a:t>
            </a:r>
            <a:r>
              <a:rPr sz="1700" spc="-5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maximum </a:t>
            </a:r>
            <a:r>
              <a:rPr sz="1700" spc="-30" dirty="0">
                <a:latin typeface="Microsoft Sans Serif"/>
                <a:cs typeface="Microsoft Sans Serif"/>
              </a:rPr>
              <a:t>payload</a:t>
            </a:r>
            <a:r>
              <a:rPr sz="1700" spc="-60" dirty="0">
                <a:latin typeface="Microsoft Sans Serif"/>
                <a:cs typeface="Microsoft Sans Serif"/>
              </a:rPr>
              <a:t> </a:t>
            </a:r>
            <a:r>
              <a:rPr sz="1700" spc="-10" dirty="0">
                <a:latin typeface="Microsoft Sans Serif"/>
                <a:cs typeface="Microsoft Sans Serif"/>
              </a:rPr>
              <a:t>using</a:t>
            </a:r>
            <a:r>
              <a:rPr sz="1700" spc="-5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</a:t>
            </a:r>
            <a:r>
              <a:rPr sz="1700" spc="-15" dirty="0">
                <a:latin typeface="Microsoft Sans Serif"/>
                <a:cs typeface="Microsoft Sans Serif"/>
              </a:rPr>
              <a:t> </a:t>
            </a:r>
            <a:r>
              <a:rPr sz="1700" spc="-35" dirty="0">
                <a:latin typeface="Microsoft Sans Serif"/>
                <a:cs typeface="Microsoft Sans Serif"/>
              </a:rPr>
              <a:t>subquery</a:t>
            </a:r>
            <a:r>
              <a:rPr sz="1700" spc="-2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in</a:t>
            </a:r>
            <a:r>
              <a:rPr sz="1700" spc="-10" dirty="0">
                <a:latin typeface="Microsoft Sans Serif"/>
                <a:cs typeface="Microsoft Sans Serif"/>
              </a:rPr>
              <a:t> </a:t>
            </a:r>
            <a:r>
              <a:rPr sz="1700" spc="-25" dirty="0">
                <a:latin typeface="Microsoft Sans Serif"/>
                <a:cs typeface="Microsoft Sans Serif"/>
              </a:rPr>
              <a:t>the </a:t>
            </a:r>
            <a:r>
              <a:rPr sz="1700" b="1" spc="-90" dirty="0">
                <a:latin typeface="Trebuchet MS"/>
                <a:cs typeface="Trebuchet MS"/>
              </a:rPr>
              <a:t>WHERE</a:t>
            </a:r>
            <a:r>
              <a:rPr sz="1700" b="1" spc="-40" dirty="0">
                <a:latin typeface="Trebuchet MS"/>
                <a:cs typeface="Trebuchet MS"/>
              </a:rPr>
              <a:t> </a:t>
            </a:r>
            <a:r>
              <a:rPr sz="1700" spc="-65" dirty="0">
                <a:latin typeface="Microsoft Sans Serif"/>
                <a:cs typeface="Microsoft Sans Serif"/>
              </a:rPr>
              <a:t>clause</a:t>
            </a:r>
            <a:r>
              <a:rPr sz="1700" spc="-5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and</a:t>
            </a:r>
            <a:r>
              <a:rPr sz="1700" spc="-65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the</a:t>
            </a:r>
            <a:r>
              <a:rPr sz="1700" spc="-30" dirty="0">
                <a:latin typeface="Microsoft Sans Serif"/>
                <a:cs typeface="Microsoft Sans Serif"/>
              </a:rPr>
              <a:t> </a:t>
            </a:r>
            <a:r>
              <a:rPr sz="1700" b="1" spc="-20" dirty="0">
                <a:latin typeface="Trebuchet MS"/>
                <a:cs typeface="Trebuchet MS"/>
              </a:rPr>
              <a:t>MAX() </a:t>
            </a:r>
            <a:r>
              <a:rPr sz="1700" spc="-10" dirty="0">
                <a:latin typeface="Microsoft Sans Serif"/>
                <a:cs typeface="Microsoft Sans Serif"/>
              </a:rPr>
              <a:t>function.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8300" y="962025"/>
            <a:ext cx="6153150" cy="49530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126851" y="6455620"/>
            <a:ext cx="159385" cy="1771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950" spc="-25" dirty="0">
                <a:solidFill>
                  <a:srgbClr val="7E7E7E"/>
                </a:solidFill>
                <a:latin typeface="Calibri"/>
                <a:cs typeface="Calibri"/>
              </a:rPr>
              <a:t>31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16691" y="6090602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32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9312" y="1851405"/>
            <a:ext cx="9121775" cy="10255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41300" marR="5080" indent="-229235">
              <a:lnSpc>
                <a:spcPct val="101899"/>
              </a:lnSpc>
              <a:spcBef>
                <a:spcPts val="80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160" dirty="0">
                <a:solidFill>
                  <a:srgbClr val="292929"/>
                </a:solidFill>
                <a:latin typeface="Microsoft Sans Serif"/>
                <a:cs typeface="Microsoft Sans Serif"/>
              </a:rPr>
              <a:t>We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used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combinations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of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b="1" spc="-80" dirty="0">
                <a:solidFill>
                  <a:srgbClr val="292929"/>
                </a:solidFill>
                <a:latin typeface="Trebuchet MS"/>
                <a:cs typeface="Trebuchet MS"/>
              </a:rPr>
              <a:t>WHERE</a:t>
            </a:r>
            <a:r>
              <a:rPr sz="2150" b="1" spc="-85" dirty="0">
                <a:solidFill>
                  <a:srgbClr val="292929"/>
                </a:solidFill>
                <a:latin typeface="Trebuchet MS"/>
                <a:cs typeface="Trebuchet MS"/>
              </a:rPr>
              <a:t> 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clause,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b="1" spc="-65" dirty="0">
                <a:solidFill>
                  <a:srgbClr val="292929"/>
                </a:solidFill>
                <a:latin typeface="Trebuchet MS"/>
                <a:cs typeface="Trebuchet MS"/>
              </a:rPr>
              <a:t>LIKE</a:t>
            </a: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,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b="1" dirty="0">
                <a:solidFill>
                  <a:srgbClr val="292929"/>
                </a:solidFill>
                <a:latin typeface="Trebuchet MS"/>
                <a:cs typeface="Trebuchet MS"/>
              </a:rPr>
              <a:t>AND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,</a:t>
            </a:r>
            <a:r>
              <a:rPr sz="2150" spc="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b="1" spc="-10" dirty="0">
                <a:solidFill>
                  <a:srgbClr val="292929"/>
                </a:solidFill>
                <a:latin typeface="Trebuchet MS"/>
                <a:cs typeface="Trebuchet MS"/>
              </a:rPr>
              <a:t>BETWEEN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conditions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to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filter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failed</a:t>
            </a:r>
            <a:r>
              <a:rPr sz="2150" spc="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outcomes</a:t>
            </a:r>
            <a:r>
              <a:rPr sz="2150" spc="6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in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drone</a:t>
            </a:r>
            <a:r>
              <a:rPr sz="2150" spc="8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ship, their</a:t>
            </a:r>
            <a:r>
              <a:rPr sz="2150" spc="5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booster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versions,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and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launch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site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 names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year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90" dirty="0">
                <a:solidFill>
                  <a:srgbClr val="292929"/>
                </a:solidFill>
                <a:latin typeface="Microsoft Sans Serif"/>
                <a:cs typeface="Microsoft Sans Serif"/>
              </a:rPr>
              <a:t>2015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200" dirty="0"/>
              <a:t>2015</a:t>
            </a:r>
            <a:r>
              <a:rPr sz="3650" spc="-40" dirty="0"/>
              <a:t> </a:t>
            </a:r>
            <a:r>
              <a:rPr sz="3650" spc="-85" dirty="0"/>
              <a:t>Launch</a:t>
            </a:r>
            <a:r>
              <a:rPr sz="3650" dirty="0"/>
              <a:t> </a:t>
            </a:r>
            <a:r>
              <a:rPr sz="3650" spc="-120" dirty="0"/>
              <a:t>Records</a:t>
            </a:r>
            <a:endParaRPr sz="365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300" y="3076575"/>
            <a:ext cx="7239000" cy="25812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72819" cy="1933575"/>
          </a:xfrm>
          <a:custGeom>
            <a:avLst/>
            <a:gdLst/>
            <a:ahLst/>
            <a:cxnLst/>
            <a:rect l="l" t="t" r="r" b="b"/>
            <a:pathLst>
              <a:path w="972819" h="1933575">
                <a:moveTo>
                  <a:pt x="972705" y="1321562"/>
                </a:moveTo>
                <a:lnTo>
                  <a:pt x="794296" y="1143127"/>
                </a:lnTo>
                <a:lnTo>
                  <a:pt x="971550" y="966724"/>
                </a:lnTo>
                <a:lnTo>
                  <a:pt x="0" y="0"/>
                </a:lnTo>
                <a:lnTo>
                  <a:pt x="0" y="1933575"/>
                </a:lnTo>
                <a:lnTo>
                  <a:pt x="444766" y="1490967"/>
                </a:lnTo>
                <a:lnTo>
                  <a:pt x="624027" y="1670177"/>
                </a:lnTo>
                <a:lnTo>
                  <a:pt x="972705" y="1321562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900"/>
              </a:lnSpc>
              <a:spcBef>
                <a:spcPts val="585"/>
              </a:spcBef>
            </a:pPr>
            <a:r>
              <a:rPr sz="3600" spc="-185" dirty="0"/>
              <a:t>Rank</a:t>
            </a:r>
            <a:r>
              <a:rPr sz="3600" spc="-60" dirty="0"/>
              <a:t> </a:t>
            </a:r>
            <a:r>
              <a:rPr sz="3600" spc="-40" dirty="0"/>
              <a:t>Landing </a:t>
            </a:r>
            <a:r>
              <a:rPr sz="3600" spc="-125" dirty="0"/>
              <a:t>Outcomes</a:t>
            </a:r>
            <a:r>
              <a:rPr sz="3600" spc="-35" dirty="0"/>
              <a:t> </a:t>
            </a:r>
            <a:r>
              <a:rPr sz="3600" spc="-100" dirty="0"/>
              <a:t>Between</a:t>
            </a:r>
            <a:r>
              <a:rPr sz="3600" spc="-55" dirty="0"/>
              <a:t> </a:t>
            </a:r>
            <a:r>
              <a:rPr sz="3600" spc="120" dirty="0"/>
              <a:t>2010-</a:t>
            </a:r>
            <a:r>
              <a:rPr sz="3600" spc="100" dirty="0"/>
              <a:t>06-</a:t>
            </a:r>
            <a:r>
              <a:rPr sz="3600" spc="160" dirty="0"/>
              <a:t>04</a:t>
            </a:r>
            <a:r>
              <a:rPr sz="3600" spc="-30" dirty="0"/>
              <a:t> </a:t>
            </a:r>
            <a:r>
              <a:rPr sz="3600" spc="-25" dirty="0"/>
              <a:t>and </a:t>
            </a:r>
            <a:r>
              <a:rPr sz="3600" spc="125" dirty="0"/>
              <a:t>2017-</a:t>
            </a:r>
            <a:r>
              <a:rPr sz="3600" spc="100" dirty="0"/>
              <a:t>03-</a:t>
            </a:r>
            <a:r>
              <a:rPr sz="3600" spc="135" dirty="0"/>
              <a:t>20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628508" y="1771078"/>
            <a:ext cx="3837940" cy="3262629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marR="168910" indent="-229235">
              <a:lnSpc>
                <a:spcPct val="90100"/>
              </a:lnSpc>
              <a:spcBef>
                <a:spcPts val="36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80" dirty="0">
                <a:latin typeface="Microsoft Sans Serif"/>
                <a:cs typeface="Microsoft Sans Serif"/>
              </a:rPr>
              <a:t>We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selected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Landing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outcomes and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COUNT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landing </a:t>
            </a:r>
            <a:r>
              <a:rPr sz="2000" spc="-45" dirty="0">
                <a:latin typeface="Microsoft Sans Serif"/>
                <a:cs typeface="Microsoft Sans Serif"/>
              </a:rPr>
              <a:t>outcomes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from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and </a:t>
            </a:r>
            <a:r>
              <a:rPr sz="2000" spc="-45" dirty="0">
                <a:latin typeface="Microsoft Sans Serif"/>
                <a:cs typeface="Microsoft Sans Serif"/>
              </a:rPr>
              <a:t>used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WHERE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clause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to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filter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landing</a:t>
            </a:r>
            <a:r>
              <a:rPr sz="2000" spc="-40" dirty="0">
                <a:latin typeface="Microsoft Sans Serif"/>
                <a:cs typeface="Microsoft Sans Serif"/>
              </a:rPr>
              <a:t> outcomes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b="1" spc="-95" dirty="0">
                <a:latin typeface="Trebuchet MS"/>
                <a:cs typeface="Trebuchet MS"/>
              </a:rPr>
              <a:t>BETWEEN </a:t>
            </a:r>
            <a:r>
              <a:rPr sz="2000" spc="75" dirty="0">
                <a:latin typeface="Microsoft Sans Serif"/>
                <a:cs typeface="Microsoft Sans Serif"/>
              </a:rPr>
              <a:t>2010-</a:t>
            </a:r>
            <a:r>
              <a:rPr sz="2000" spc="60" dirty="0">
                <a:latin typeface="Microsoft Sans Serif"/>
                <a:cs typeface="Microsoft Sans Serif"/>
              </a:rPr>
              <a:t>06-</a:t>
            </a:r>
            <a:r>
              <a:rPr sz="2000" spc="95" dirty="0">
                <a:latin typeface="Microsoft Sans Serif"/>
                <a:cs typeface="Microsoft Sans Serif"/>
              </a:rPr>
              <a:t>04</a:t>
            </a:r>
            <a:r>
              <a:rPr sz="2000" spc="6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to</a:t>
            </a:r>
            <a:r>
              <a:rPr sz="2000" spc="100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2010-</a:t>
            </a:r>
            <a:r>
              <a:rPr sz="2000" spc="60" dirty="0">
                <a:latin typeface="Microsoft Sans Serif"/>
                <a:cs typeface="Microsoft Sans Serif"/>
              </a:rPr>
              <a:t>03-</a:t>
            </a:r>
            <a:r>
              <a:rPr sz="2000" spc="-25" dirty="0">
                <a:latin typeface="Microsoft Sans Serif"/>
                <a:cs typeface="Microsoft Sans Serif"/>
              </a:rPr>
              <a:t>20.</a:t>
            </a:r>
            <a:endParaRPr sz="2000">
              <a:latin typeface="Microsoft Sans Serif"/>
              <a:cs typeface="Microsoft Sans Serif"/>
            </a:endParaRPr>
          </a:p>
          <a:p>
            <a:pPr marL="241300" marR="5080" indent="-229235">
              <a:lnSpc>
                <a:spcPts val="2180"/>
              </a:lnSpc>
              <a:spcBef>
                <a:spcPts val="138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80" dirty="0">
                <a:latin typeface="Microsoft Sans Serif"/>
                <a:cs typeface="Microsoft Sans Serif"/>
              </a:rPr>
              <a:t>We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applied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GROUP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BY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Microsoft Sans Serif"/>
                <a:cs typeface="Microsoft Sans Serif"/>
              </a:rPr>
              <a:t>clause </a:t>
            </a:r>
            <a:r>
              <a:rPr sz="2000" spc="55" dirty="0">
                <a:latin typeface="Microsoft Sans Serif"/>
                <a:cs typeface="Microsoft Sans Serif"/>
              </a:rPr>
              <a:t>to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group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landing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outcomes and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b="1" spc="-55" dirty="0">
                <a:latin typeface="Trebuchet MS"/>
                <a:cs typeface="Trebuchet MS"/>
              </a:rPr>
              <a:t>ORDER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BY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clause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30" dirty="0">
                <a:latin typeface="Microsoft Sans Serif"/>
                <a:cs typeface="Microsoft Sans Serif"/>
              </a:rPr>
              <a:t>to </a:t>
            </a:r>
            <a:r>
              <a:rPr sz="2000" dirty="0">
                <a:latin typeface="Microsoft Sans Serif"/>
                <a:cs typeface="Microsoft Sans Serif"/>
              </a:rPr>
              <a:t>order</a:t>
            </a:r>
            <a:r>
              <a:rPr sz="2000" spc="-6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grouped</a:t>
            </a:r>
            <a:r>
              <a:rPr sz="2000" spc="-5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landing </a:t>
            </a:r>
            <a:r>
              <a:rPr sz="2000" spc="-30" dirty="0">
                <a:latin typeface="Microsoft Sans Serif"/>
                <a:cs typeface="Microsoft Sans Serif"/>
              </a:rPr>
              <a:t>outcome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0" dirty="0">
                <a:latin typeface="Microsoft Sans Serif"/>
                <a:cs typeface="Microsoft Sans Serif"/>
              </a:rPr>
              <a:t>descending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order.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96268" y="6434454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177905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5" h="2019300">
                <a:moveTo>
                  <a:pt x="1014095" y="0"/>
                </a:moveTo>
                <a:lnTo>
                  <a:pt x="4445" y="1009650"/>
                </a:lnTo>
                <a:lnTo>
                  <a:pt x="182867" y="1188085"/>
                </a:lnTo>
                <a:lnTo>
                  <a:pt x="0" y="1370926"/>
                </a:lnTo>
                <a:lnTo>
                  <a:pt x="343408" y="1714271"/>
                </a:lnTo>
                <a:lnTo>
                  <a:pt x="526211" y="1531429"/>
                </a:lnTo>
                <a:lnTo>
                  <a:pt x="1014095" y="2019300"/>
                </a:lnTo>
                <a:lnTo>
                  <a:pt x="1014095" y="0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1590675"/>
            <a:ext cx="6124575" cy="42957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1304925"/>
              <a:ext cx="10515600" cy="47244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dirty="0"/>
              <a:t>All</a:t>
            </a:r>
            <a:r>
              <a:rPr sz="3650" spc="-114" dirty="0"/>
              <a:t> </a:t>
            </a:r>
            <a:r>
              <a:rPr sz="3650" spc="-55" dirty="0"/>
              <a:t>launch</a:t>
            </a:r>
            <a:r>
              <a:rPr sz="3650" spc="-70" dirty="0"/>
              <a:t> </a:t>
            </a:r>
            <a:r>
              <a:rPr sz="3650" dirty="0"/>
              <a:t>sites</a:t>
            </a:r>
            <a:r>
              <a:rPr sz="3650" spc="-95" dirty="0"/>
              <a:t> </a:t>
            </a:r>
            <a:r>
              <a:rPr sz="3650" dirty="0"/>
              <a:t>global</a:t>
            </a:r>
            <a:r>
              <a:rPr sz="3650" spc="-55" dirty="0"/>
              <a:t> </a:t>
            </a:r>
            <a:r>
              <a:rPr sz="3650" spc="-10" dirty="0"/>
              <a:t>map</a:t>
            </a:r>
            <a:r>
              <a:rPr sz="3650" spc="-50" dirty="0"/>
              <a:t> </a:t>
            </a:r>
            <a:r>
              <a:rPr sz="3650" spc="-60" dirty="0"/>
              <a:t>markers</a:t>
            </a:r>
            <a:endParaRPr sz="36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35</a:t>
            </a:fld>
            <a:endParaRPr spc="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1525" y="1257300"/>
              <a:ext cx="10687050" cy="4772025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55" dirty="0"/>
              <a:t>Markers</a:t>
            </a:r>
            <a:r>
              <a:rPr sz="3650" spc="-114" dirty="0"/>
              <a:t> </a:t>
            </a:r>
            <a:r>
              <a:rPr sz="3650" dirty="0"/>
              <a:t>showing</a:t>
            </a:r>
            <a:r>
              <a:rPr sz="3650" spc="-120" dirty="0"/>
              <a:t> </a:t>
            </a:r>
            <a:r>
              <a:rPr sz="3650" spc="-50" dirty="0"/>
              <a:t>launch</a:t>
            </a:r>
            <a:r>
              <a:rPr sz="3650" spc="-90" dirty="0"/>
              <a:t> </a:t>
            </a:r>
            <a:r>
              <a:rPr sz="3650" spc="-10" dirty="0"/>
              <a:t>sites</a:t>
            </a:r>
            <a:r>
              <a:rPr sz="3650" spc="-55" dirty="0"/>
              <a:t> </a:t>
            </a:r>
            <a:r>
              <a:rPr sz="3650" dirty="0"/>
              <a:t>with</a:t>
            </a:r>
            <a:r>
              <a:rPr sz="3650" spc="-85" dirty="0"/>
              <a:t> </a:t>
            </a:r>
            <a:r>
              <a:rPr sz="3650" dirty="0"/>
              <a:t>color</a:t>
            </a:r>
            <a:r>
              <a:rPr sz="3650" spc="-85" dirty="0"/>
              <a:t> </a:t>
            </a:r>
            <a:r>
              <a:rPr sz="3650" spc="-10" dirty="0"/>
              <a:t>labels</a:t>
            </a:r>
            <a:endParaRPr sz="365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36</a:t>
            </a:fld>
            <a:endParaRPr spc="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25" y="1362075"/>
            <a:ext cx="10024764" cy="5067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064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30"/>
              </a:spcBef>
            </a:pPr>
            <a:r>
              <a:rPr sz="3650" spc="-95" dirty="0"/>
              <a:t>Launch </a:t>
            </a:r>
            <a:r>
              <a:rPr sz="3650" spc="-20" dirty="0"/>
              <a:t>Site</a:t>
            </a:r>
            <a:r>
              <a:rPr sz="3650" spc="-70" dirty="0"/>
              <a:t> </a:t>
            </a:r>
            <a:r>
              <a:rPr sz="3650" spc="-40" dirty="0"/>
              <a:t>distance</a:t>
            </a:r>
            <a:r>
              <a:rPr sz="3650" spc="-65" dirty="0"/>
              <a:t> </a:t>
            </a:r>
            <a:r>
              <a:rPr sz="3650" spc="90" dirty="0"/>
              <a:t>to</a:t>
            </a:r>
            <a:r>
              <a:rPr sz="3650" spc="-95" dirty="0"/>
              <a:t> </a:t>
            </a:r>
            <a:r>
              <a:rPr sz="3650" spc="-55" dirty="0"/>
              <a:t>landmarks</a:t>
            </a:r>
            <a:endParaRPr sz="36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37</a:t>
            </a:fld>
            <a:endParaRPr spc="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87555" cy="6858000"/>
            <a:chOff x="0" y="0"/>
            <a:chExt cx="1218755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7239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2475" y="1457325"/>
              <a:ext cx="10687050" cy="477202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1116691" y="6291579"/>
            <a:ext cx="2730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80" dirty="0">
                <a:solidFill>
                  <a:srgbClr val="1C7CDB"/>
                </a:solidFill>
                <a:latin typeface="Microsoft Sans Serif"/>
                <a:cs typeface="Microsoft Sans Serif"/>
              </a:rPr>
              <a:t>39</a:t>
            </a:r>
            <a:endParaRPr sz="15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125"/>
              </a:spcBef>
            </a:pPr>
            <a:r>
              <a:rPr spc="-25" dirty="0"/>
              <a:t>Pie</a:t>
            </a:r>
            <a:r>
              <a:rPr spc="-45" dirty="0"/>
              <a:t> </a:t>
            </a:r>
            <a:r>
              <a:rPr dirty="0"/>
              <a:t>chart</a:t>
            </a:r>
            <a:r>
              <a:rPr spc="-55" dirty="0"/>
              <a:t> </a:t>
            </a:r>
            <a:r>
              <a:rPr dirty="0"/>
              <a:t>showing</a:t>
            </a:r>
            <a:r>
              <a:rPr spc="-50" dirty="0"/>
              <a:t> </a:t>
            </a:r>
            <a:r>
              <a:rPr dirty="0"/>
              <a:t>the</a:t>
            </a:r>
            <a:r>
              <a:rPr spc="-100" dirty="0"/>
              <a:t> success</a:t>
            </a:r>
            <a:r>
              <a:rPr spc="-40" dirty="0"/>
              <a:t> </a:t>
            </a:r>
            <a:r>
              <a:rPr spc="-25" dirty="0"/>
              <a:t>percentage</a:t>
            </a:r>
            <a:r>
              <a:rPr spc="-45" dirty="0"/>
              <a:t> </a:t>
            </a:r>
            <a:r>
              <a:rPr spc="-55" dirty="0"/>
              <a:t>achieved</a:t>
            </a:r>
            <a:r>
              <a:rPr spc="-50" dirty="0"/>
              <a:t> </a:t>
            </a:r>
            <a:r>
              <a:rPr dirty="0"/>
              <a:t>by</a:t>
            </a:r>
            <a:r>
              <a:rPr spc="-70" dirty="0"/>
              <a:t> </a:t>
            </a:r>
            <a:r>
              <a:rPr spc="-50" dirty="0"/>
              <a:t>each</a:t>
            </a:r>
            <a:r>
              <a:rPr spc="-45" dirty="0"/>
              <a:t> </a:t>
            </a:r>
            <a:r>
              <a:rPr spc="-30" dirty="0"/>
              <a:t>launch</a:t>
            </a:r>
            <a:r>
              <a:rPr spc="-45" dirty="0"/>
              <a:t> </a:t>
            </a:r>
            <a:r>
              <a:rPr spc="-20" dirty="0"/>
              <a:t>site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6202" y="1550226"/>
            <a:ext cx="7418990" cy="403556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577" rIns="0" bIns="0" rtlCol="0">
            <a:spAutoFit/>
          </a:bodyPr>
          <a:lstStyle/>
          <a:p>
            <a:pPr marL="473075">
              <a:lnSpc>
                <a:spcPct val="100000"/>
              </a:lnSpc>
              <a:spcBef>
                <a:spcPts val="125"/>
              </a:spcBef>
            </a:pPr>
            <a:r>
              <a:rPr spc="-20" dirty="0"/>
              <a:t>Pie</a:t>
            </a:r>
            <a:r>
              <a:rPr spc="15" dirty="0"/>
              <a:t> </a:t>
            </a:r>
            <a:r>
              <a:rPr dirty="0"/>
              <a:t>chart</a:t>
            </a:r>
            <a:r>
              <a:rPr spc="-5" dirty="0"/>
              <a:t> </a:t>
            </a:r>
            <a:r>
              <a:rPr dirty="0"/>
              <a:t>showing</a:t>
            </a:r>
            <a:r>
              <a:rPr spc="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60" dirty="0"/>
              <a:t>Launch</a:t>
            </a:r>
            <a:r>
              <a:rPr spc="-50" dirty="0"/>
              <a:t> </a:t>
            </a:r>
            <a:r>
              <a:rPr dirty="0"/>
              <a:t>site</a:t>
            </a:r>
            <a:r>
              <a:rPr spc="-5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highest</a:t>
            </a:r>
            <a:r>
              <a:rPr spc="-5" dirty="0"/>
              <a:t> </a:t>
            </a:r>
            <a:r>
              <a:rPr spc="-30" dirty="0"/>
              <a:t>launch</a:t>
            </a:r>
            <a:r>
              <a:rPr spc="15" dirty="0"/>
              <a:t> </a:t>
            </a:r>
            <a:r>
              <a:rPr spc="-110" dirty="0"/>
              <a:t>success</a:t>
            </a:r>
            <a:r>
              <a:rPr spc="-50" dirty="0"/>
              <a:t> </a:t>
            </a:r>
            <a:r>
              <a:rPr spc="-10" dirty="0"/>
              <a:t>ratio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76051" y="6441747"/>
            <a:ext cx="2413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40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287" rIns="0" bIns="0" rtlCol="0">
            <a:spAutoFit/>
          </a:bodyPr>
          <a:lstStyle/>
          <a:p>
            <a:pPr marL="207010">
              <a:lnSpc>
                <a:spcPts val="2820"/>
              </a:lnSpc>
              <a:spcBef>
                <a:spcPts val="125"/>
              </a:spcBef>
            </a:pPr>
            <a:r>
              <a:rPr spc="-30" dirty="0"/>
              <a:t>Scatter</a:t>
            </a:r>
            <a:r>
              <a:rPr spc="45" dirty="0"/>
              <a:t> </a:t>
            </a:r>
            <a:r>
              <a:rPr dirty="0"/>
              <a:t>plot</a:t>
            </a:r>
            <a:r>
              <a:rPr spc="3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45" dirty="0"/>
              <a:t>Payload</a:t>
            </a:r>
            <a:r>
              <a:rPr spc="35" dirty="0"/>
              <a:t> </a:t>
            </a:r>
            <a:r>
              <a:rPr dirty="0"/>
              <a:t>vs</a:t>
            </a:r>
            <a:r>
              <a:rPr spc="45" dirty="0"/>
              <a:t> </a:t>
            </a:r>
            <a:r>
              <a:rPr spc="-50" dirty="0"/>
              <a:t>Launch</a:t>
            </a:r>
            <a:r>
              <a:rPr spc="40" dirty="0"/>
              <a:t> </a:t>
            </a:r>
            <a:r>
              <a:rPr spc="-40" dirty="0"/>
              <a:t>Outcome</a:t>
            </a:r>
            <a:r>
              <a:rPr spc="3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dirty="0"/>
              <a:t>all</a:t>
            </a:r>
            <a:r>
              <a:rPr spc="15" dirty="0"/>
              <a:t> </a:t>
            </a:r>
            <a:r>
              <a:rPr spc="-30" dirty="0"/>
              <a:t>sites,</a:t>
            </a:r>
            <a:r>
              <a:rPr spc="35" dirty="0"/>
              <a:t> </a:t>
            </a:r>
            <a:r>
              <a:rPr dirty="0"/>
              <a:t>with</a:t>
            </a:r>
            <a:r>
              <a:rPr spc="35" dirty="0"/>
              <a:t> </a:t>
            </a:r>
            <a:r>
              <a:rPr spc="-10" dirty="0"/>
              <a:t>different</a:t>
            </a:r>
          </a:p>
          <a:p>
            <a:pPr marL="207010">
              <a:lnSpc>
                <a:spcPts val="2820"/>
              </a:lnSpc>
            </a:pPr>
            <a:r>
              <a:rPr dirty="0"/>
              <a:t>payload</a:t>
            </a:r>
            <a:r>
              <a:rPr spc="-35" dirty="0"/>
              <a:t> </a:t>
            </a:r>
            <a:r>
              <a:rPr spc="-30" dirty="0"/>
              <a:t>selected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range</a:t>
            </a:r>
            <a:r>
              <a:rPr spc="-30" dirty="0"/>
              <a:t> </a:t>
            </a:r>
            <a:r>
              <a:rPr spc="-10" dirty="0"/>
              <a:t>slider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123825"/>
          </a:xfrm>
          <a:custGeom>
            <a:avLst/>
            <a:gdLst/>
            <a:ahLst/>
            <a:cxnLst/>
            <a:rect l="l" t="t" r="r" b="b"/>
            <a:pathLst>
              <a:path w="12192000" h="123825">
                <a:moveTo>
                  <a:pt x="12192000" y="0"/>
                </a:moveTo>
                <a:lnTo>
                  <a:pt x="0" y="0"/>
                </a:lnTo>
                <a:lnTo>
                  <a:pt x="0" y="123825"/>
                </a:lnTo>
                <a:lnTo>
                  <a:pt x="12192000" y="1238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190750"/>
            <a:ext cx="10515600" cy="37194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76051" y="6441747"/>
            <a:ext cx="2413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41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00100" y="2533650"/>
              <a:ext cx="1057275" cy="361950"/>
            </a:xfrm>
            <a:custGeom>
              <a:avLst/>
              <a:gdLst/>
              <a:ahLst/>
              <a:cxnLst/>
              <a:rect l="l" t="t" r="r" b="b"/>
              <a:pathLst>
                <a:path w="1057275" h="361950">
                  <a:moveTo>
                    <a:pt x="1057275" y="0"/>
                  </a:moveTo>
                  <a:lnTo>
                    <a:pt x="0" y="0"/>
                  </a:lnTo>
                  <a:lnTo>
                    <a:pt x="0" y="361950"/>
                  </a:lnTo>
                  <a:lnTo>
                    <a:pt x="1057275" y="361950"/>
                  </a:lnTo>
                  <a:lnTo>
                    <a:pt x="1057275" y="0"/>
                  </a:lnTo>
                  <a:close/>
                </a:path>
              </a:pathLst>
            </a:custGeom>
            <a:solidFill>
              <a:srgbClr val="0947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252" y="2547302"/>
            <a:ext cx="8864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Section</a:t>
            </a:r>
            <a:r>
              <a:rPr sz="18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33392" y="342733"/>
            <a:ext cx="11273155" cy="2195830"/>
            <a:chOff x="533392" y="342733"/>
            <a:chExt cx="11273155" cy="21958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392" y="342733"/>
              <a:ext cx="11272916" cy="21956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57212" y="366775"/>
              <a:ext cx="11172825" cy="2095500"/>
            </a:xfrm>
            <a:custGeom>
              <a:avLst/>
              <a:gdLst/>
              <a:ahLst/>
              <a:cxnLst/>
              <a:rect l="l" t="t" r="r" b="b"/>
              <a:pathLst>
                <a:path w="11172825" h="2095500">
                  <a:moveTo>
                    <a:pt x="11172825" y="0"/>
                  </a:moveTo>
                  <a:lnTo>
                    <a:pt x="0" y="0"/>
                  </a:lnTo>
                  <a:lnTo>
                    <a:pt x="0" y="2095500"/>
                  </a:lnTo>
                  <a:lnTo>
                    <a:pt x="11172825" y="2095500"/>
                  </a:lnTo>
                  <a:lnTo>
                    <a:pt x="11172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7212" y="366775"/>
              <a:ext cx="11172825" cy="2095500"/>
            </a:xfrm>
            <a:custGeom>
              <a:avLst/>
              <a:gdLst/>
              <a:ahLst/>
              <a:cxnLst/>
              <a:rect l="l" t="t" r="r" b="b"/>
              <a:pathLst>
                <a:path w="11172825" h="2095500">
                  <a:moveTo>
                    <a:pt x="0" y="2095500"/>
                  </a:moveTo>
                  <a:lnTo>
                    <a:pt x="11172825" y="2095500"/>
                  </a:lnTo>
                  <a:lnTo>
                    <a:pt x="11172825" y="0"/>
                  </a:lnTo>
                  <a:lnTo>
                    <a:pt x="0" y="0"/>
                  </a:lnTo>
                  <a:lnTo>
                    <a:pt x="0" y="2095500"/>
                  </a:lnTo>
                  <a:close/>
                </a:path>
              </a:pathLst>
            </a:custGeom>
            <a:ln w="12700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6489" y="804799"/>
            <a:ext cx="2622550" cy="110172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4060"/>
              </a:lnSpc>
              <a:spcBef>
                <a:spcPts val="530"/>
              </a:spcBef>
            </a:pPr>
            <a:r>
              <a:rPr sz="3650" spc="-90" dirty="0"/>
              <a:t>Classification </a:t>
            </a:r>
            <a:r>
              <a:rPr sz="3650" spc="-30" dirty="0"/>
              <a:t>Accuracy</a:t>
            </a:r>
            <a:endParaRPr sz="3650"/>
          </a:p>
        </p:txBody>
      </p:sp>
      <p:grpSp>
        <p:nvGrpSpPr>
          <p:cNvPr id="7" name="object 7"/>
          <p:cNvGrpSpPr/>
          <p:nvPr/>
        </p:nvGrpSpPr>
        <p:grpSpPr>
          <a:xfrm>
            <a:off x="485775" y="676275"/>
            <a:ext cx="4495800" cy="1466850"/>
            <a:chOff x="485775" y="676275"/>
            <a:chExt cx="4495800" cy="1466850"/>
          </a:xfrm>
        </p:grpSpPr>
        <p:sp>
          <p:nvSpPr>
            <p:cNvPr id="8" name="object 8"/>
            <p:cNvSpPr/>
            <p:nvPr/>
          </p:nvSpPr>
          <p:spPr>
            <a:xfrm>
              <a:off x="485775" y="1057275"/>
              <a:ext cx="133350" cy="704850"/>
            </a:xfrm>
            <a:custGeom>
              <a:avLst/>
              <a:gdLst/>
              <a:ahLst/>
              <a:cxnLst/>
              <a:rect l="l" t="t" r="r" b="b"/>
              <a:pathLst>
                <a:path w="133350" h="704850">
                  <a:moveTo>
                    <a:pt x="133350" y="0"/>
                  </a:moveTo>
                  <a:lnTo>
                    <a:pt x="0" y="0"/>
                  </a:lnTo>
                  <a:lnTo>
                    <a:pt x="0" y="704850"/>
                  </a:lnTo>
                  <a:lnTo>
                    <a:pt x="133350" y="70485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2525" y="676275"/>
              <a:ext cx="19050" cy="1466850"/>
            </a:xfrm>
            <a:custGeom>
              <a:avLst/>
              <a:gdLst/>
              <a:ahLst/>
              <a:cxnLst/>
              <a:rect l="l" t="t" r="r" b="b"/>
              <a:pathLst>
                <a:path w="19050" h="1466850">
                  <a:moveTo>
                    <a:pt x="19050" y="0"/>
                  </a:moveTo>
                  <a:lnTo>
                    <a:pt x="0" y="0"/>
                  </a:lnTo>
                  <a:lnTo>
                    <a:pt x="0" y="1466850"/>
                  </a:lnTo>
                  <a:lnTo>
                    <a:pt x="19050" y="146685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34076" y="836612"/>
            <a:ext cx="5530215" cy="6623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1300" marR="5080" indent="-229235">
              <a:lnSpc>
                <a:spcPts val="2400"/>
              </a:lnSpc>
              <a:spcBef>
                <a:spcPts val="355"/>
              </a:spcBef>
              <a:buFont typeface="Arial MT"/>
              <a:buChar char="•"/>
              <a:tabLst>
                <a:tab pos="241300" algn="l"/>
              </a:tabLst>
            </a:pPr>
            <a:r>
              <a:rPr sz="2150" spc="-70" dirty="0">
                <a:latin typeface="Microsoft Sans Serif"/>
                <a:cs typeface="Microsoft Sans Serif"/>
              </a:rPr>
              <a:t>The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decision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tree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-30" dirty="0">
                <a:latin typeface="Microsoft Sans Serif"/>
                <a:cs typeface="Microsoft Sans Serif"/>
              </a:rPr>
              <a:t>classifier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is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model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with </a:t>
            </a: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highest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30" dirty="0">
                <a:latin typeface="Microsoft Sans Serif"/>
                <a:cs typeface="Microsoft Sans Serif"/>
              </a:rPr>
              <a:t>classification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accuracy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312" y="2900000"/>
            <a:ext cx="11012035" cy="310312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101451" y="6441747"/>
            <a:ext cx="17780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9312" y="2083435"/>
            <a:ext cx="5551170" cy="203708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41300" marR="5080" indent="-229235">
              <a:lnSpc>
                <a:spcPct val="102499"/>
              </a:lnSpc>
              <a:spcBef>
                <a:spcPts val="65"/>
              </a:spcBef>
              <a:buClr>
                <a:srgbClr val="292929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65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confusion</a:t>
            </a:r>
            <a:r>
              <a:rPr sz="2150" spc="-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matrix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for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decision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tree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classifier</a:t>
            </a:r>
            <a:r>
              <a:rPr sz="2150" spc="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shows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that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5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classifier</a:t>
            </a:r>
            <a:r>
              <a:rPr sz="2150" spc="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5" dirty="0">
                <a:solidFill>
                  <a:srgbClr val="292929"/>
                </a:solidFill>
                <a:latin typeface="Microsoft Sans Serif"/>
                <a:cs typeface="Microsoft Sans Serif"/>
              </a:rPr>
              <a:t>can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distinguish</a:t>
            </a:r>
            <a:r>
              <a:rPr sz="2150" spc="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between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4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different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classes. </a:t>
            </a:r>
            <a:r>
              <a:rPr sz="2150" spc="-7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-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major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problem</a:t>
            </a:r>
            <a:r>
              <a:rPr sz="2150" spc="-1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is</a:t>
            </a:r>
            <a:r>
              <a:rPr sz="2150" spc="-7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false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positives</a:t>
            </a:r>
            <a:r>
              <a:rPr sz="2150" spc="-2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50" dirty="0">
                <a:solidFill>
                  <a:srgbClr val="292929"/>
                </a:solidFill>
                <a:latin typeface="Microsoft Sans Serif"/>
                <a:cs typeface="Microsoft Sans Serif"/>
              </a:rPr>
              <a:t>.i.e., 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unsuccessful</a:t>
            </a:r>
            <a:r>
              <a:rPr sz="2150" spc="-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150" spc="-9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marked</a:t>
            </a:r>
            <a:r>
              <a:rPr sz="2150" spc="-4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30" dirty="0">
                <a:solidFill>
                  <a:srgbClr val="292929"/>
                </a:solidFill>
                <a:latin typeface="Microsoft Sans Serif"/>
                <a:cs typeface="Microsoft Sans Serif"/>
              </a:rPr>
              <a:t>as</a:t>
            </a:r>
            <a:r>
              <a:rPr sz="2150" spc="-6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successful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landing</a:t>
            </a:r>
            <a:r>
              <a:rPr sz="2150" spc="1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by</a:t>
            </a:r>
            <a:r>
              <a:rPr sz="2150" spc="25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dirty="0">
                <a:solidFill>
                  <a:srgbClr val="292929"/>
                </a:solidFill>
                <a:latin typeface="Microsoft Sans Serif"/>
                <a:cs typeface="Microsoft Sans Serif"/>
              </a:rPr>
              <a:t>the</a:t>
            </a:r>
            <a:r>
              <a:rPr sz="2150" spc="80" dirty="0">
                <a:solidFill>
                  <a:srgbClr val="292929"/>
                </a:solidFill>
                <a:latin typeface="Microsoft Sans Serif"/>
                <a:cs typeface="Microsoft Sans Serif"/>
              </a:rPr>
              <a:t> </a:t>
            </a:r>
            <a:r>
              <a:rPr sz="2150" spc="-10" dirty="0">
                <a:solidFill>
                  <a:srgbClr val="292929"/>
                </a:solidFill>
                <a:latin typeface="Microsoft Sans Serif"/>
                <a:cs typeface="Microsoft Sans Serif"/>
              </a:rPr>
              <a:t>classifier.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3389629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55" dirty="0"/>
              <a:t>Confusion</a:t>
            </a:r>
            <a:r>
              <a:rPr sz="3650" spc="-185" dirty="0"/>
              <a:t> </a:t>
            </a:r>
            <a:r>
              <a:rPr sz="3650" spc="-30" dirty="0"/>
              <a:t>Matrix</a:t>
            </a:r>
            <a:endParaRPr sz="36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2725" y="1876425"/>
            <a:ext cx="4276725" cy="31051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44</a:t>
            </a:fld>
            <a:endParaRPr spc="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pc="-150" dirty="0"/>
              <a:t>We</a:t>
            </a:r>
            <a:r>
              <a:rPr spc="5" dirty="0"/>
              <a:t> </a:t>
            </a:r>
            <a:r>
              <a:rPr spc="-20" dirty="0"/>
              <a:t>can</a:t>
            </a:r>
            <a:r>
              <a:rPr spc="-125" dirty="0"/>
              <a:t> </a:t>
            </a:r>
            <a:r>
              <a:rPr spc="-25" dirty="0"/>
              <a:t>conclude</a:t>
            </a:r>
            <a:r>
              <a:rPr spc="-30" dirty="0"/>
              <a:t> </a:t>
            </a:r>
            <a:r>
              <a:rPr spc="-20" dirty="0"/>
              <a:t>that:</a:t>
            </a: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pc="-65" dirty="0"/>
              <a:t>The</a:t>
            </a:r>
            <a:r>
              <a:rPr spc="35" dirty="0"/>
              <a:t> </a:t>
            </a:r>
            <a:r>
              <a:rPr dirty="0"/>
              <a:t>larger</a:t>
            </a:r>
            <a:r>
              <a:rPr spc="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flight</a:t>
            </a:r>
            <a:r>
              <a:rPr spc="-25" dirty="0"/>
              <a:t> </a:t>
            </a:r>
            <a:r>
              <a:rPr dirty="0"/>
              <a:t>amount</a:t>
            </a:r>
            <a:r>
              <a:rPr spc="-15" dirty="0"/>
              <a:t> </a:t>
            </a:r>
            <a:r>
              <a:rPr dirty="0"/>
              <a:t>at</a:t>
            </a:r>
            <a:r>
              <a:rPr spc="4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-45" dirty="0"/>
              <a:t>launch</a:t>
            </a:r>
            <a:r>
              <a:rPr spc="-25" dirty="0"/>
              <a:t> </a:t>
            </a:r>
            <a:r>
              <a:rPr dirty="0"/>
              <a:t>site,</a:t>
            </a:r>
            <a:r>
              <a:rPr spc="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greater</a:t>
            </a:r>
            <a:r>
              <a:rPr spc="10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spc="-100" dirty="0"/>
              <a:t>success</a:t>
            </a:r>
            <a:r>
              <a:rPr spc="25" dirty="0"/>
              <a:t> </a:t>
            </a:r>
            <a:r>
              <a:rPr dirty="0"/>
              <a:t>rate</a:t>
            </a:r>
            <a:r>
              <a:rPr spc="-30" dirty="0"/>
              <a:t> </a:t>
            </a:r>
            <a:r>
              <a:rPr dirty="0"/>
              <a:t>at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launch</a:t>
            </a:r>
          </a:p>
          <a:p>
            <a:pPr marL="241300">
              <a:lnSpc>
                <a:spcPct val="100000"/>
              </a:lnSpc>
              <a:spcBef>
                <a:spcPts val="125"/>
              </a:spcBef>
            </a:pPr>
            <a:r>
              <a:rPr spc="-10" dirty="0"/>
              <a:t>site.</a:t>
            </a:r>
          </a:p>
          <a:p>
            <a:pPr marL="241300" indent="-22860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41300" algn="l"/>
              </a:tabLst>
            </a:pPr>
            <a:r>
              <a:rPr spc="-50" dirty="0">
                <a:solidFill>
                  <a:srgbClr val="000000"/>
                </a:solidFill>
              </a:rPr>
              <a:t>Launch</a:t>
            </a:r>
            <a:r>
              <a:rPr spc="85" dirty="0">
                <a:solidFill>
                  <a:srgbClr val="000000"/>
                </a:solidFill>
              </a:rPr>
              <a:t> </a:t>
            </a:r>
            <a:r>
              <a:rPr spc="-100" dirty="0">
                <a:solidFill>
                  <a:srgbClr val="000000"/>
                </a:solidFill>
              </a:rPr>
              <a:t>success</a:t>
            </a:r>
            <a:r>
              <a:rPr spc="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rate</a:t>
            </a:r>
            <a:r>
              <a:rPr spc="1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started</a:t>
            </a:r>
            <a:r>
              <a:rPr spc="9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to</a:t>
            </a:r>
            <a:r>
              <a:rPr spc="50" dirty="0">
                <a:solidFill>
                  <a:srgbClr val="000000"/>
                </a:solidFill>
              </a:rPr>
              <a:t> </a:t>
            </a:r>
            <a:r>
              <a:rPr spc="-55" dirty="0">
                <a:solidFill>
                  <a:srgbClr val="000000"/>
                </a:solidFill>
              </a:rPr>
              <a:t>increase</a:t>
            </a:r>
            <a:r>
              <a:rPr spc="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20" dirty="0">
                <a:solidFill>
                  <a:srgbClr val="000000"/>
                </a:solidFill>
              </a:rPr>
              <a:t> </a:t>
            </a:r>
            <a:r>
              <a:rPr spc="110" dirty="0">
                <a:solidFill>
                  <a:srgbClr val="000000"/>
                </a:solidFill>
              </a:rPr>
              <a:t>2013</a:t>
            </a:r>
            <a:r>
              <a:rPr spc="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till</a:t>
            </a:r>
            <a:r>
              <a:rPr spc="55" dirty="0">
                <a:solidFill>
                  <a:srgbClr val="000000"/>
                </a:solidFill>
              </a:rPr>
              <a:t> </a:t>
            </a:r>
            <a:r>
              <a:rPr spc="65" dirty="0">
                <a:solidFill>
                  <a:srgbClr val="000000"/>
                </a:solidFill>
              </a:rPr>
              <a:t>2020.</a:t>
            </a: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Orbits</a:t>
            </a:r>
            <a:r>
              <a:rPr spc="-100" dirty="0"/>
              <a:t> </a:t>
            </a:r>
            <a:r>
              <a:rPr spc="-190" dirty="0">
                <a:solidFill>
                  <a:srgbClr val="000000"/>
                </a:solidFill>
              </a:rPr>
              <a:t>ES-</a:t>
            </a:r>
            <a:r>
              <a:rPr dirty="0">
                <a:solidFill>
                  <a:srgbClr val="000000"/>
                </a:solidFill>
              </a:rPr>
              <a:t>L1,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210" dirty="0">
                <a:solidFill>
                  <a:srgbClr val="000000"/>
                </a:solidFill>
              </a:rPr>
              <a:t>GEO,</a:t>
            </a:r>
            <a:r>
              <a:rPr spc="55" dirty="0">
                <a:solidFill>
                  <a:srgbClr val="000000"/>
                </a:solidFill>
              </a:rPr>
              <a:t> </a:t>
            </a:r>
            <a:r>
              <a:rPr spc="-145" dirty="0">
                <a:solidFill>
                  <a:srgbClr val="000000"/>
                </a:solidFill>
              </a:rPr>
              <a:t>HEO,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204" dirty="0">
                <a:solidFill>
                  <a:srgbClr val="000000"/>
                </a:solidFill>
              </a:rPr>
              <a:t>SSO,</a:t>
            </a:r>
            <a:r>
              <a:rPr spc="60" dirty="0">
                <a:solidFill>
                  <a:srgbClr val="000000"/>
                </a:solidFill>
              </a:rPr>
              <a:t> </a:t>
            </a:r>
            <a:r>
              <a:rPr spc="-135" dirty="0">
                <a:solidFill>
                  <a:srgbClr val="000000"/>
                </a:solidFill>
              </a:rPr>
              <a:t>VLEO</a:t>
            </a:r>
            <a:r>
              <a:rPr spc="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had</a:t>
            </a:r>
            <a:r>
              <a:rPr spc="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most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spc="-90" dirty="0">
                <a:solidFill>
                  <a:srgbClr val="000000"/>
                </a:solidFill>
              </a:rPr>
              <a:t>success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rate.</a:t>
            </a: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pc="-265" dirty="0"/>
              <a:t>KSC</a:t>
            </a:r>
            <a:r>
              <a:rPr spc="95" dirty="0"/>
              <a:t> </a:t>
            </a:r>
            <a:r>
              <a:rPr spc="-110" dirty="0"/>
              <a:t>LC-</a:t>
            </a:r>
            <a:r>
              <a:rPr dirty="0"/>
              <a:t>39A</a:t>
            </a:r>
            <a:r>
              <a:rPr spc="-15" dirty="0"/>
              <a:t> </a:t>
            </a:r>
            <a:r>
              <a:rPr dirty="0"/>
              <a:t>had</a:t>
            </a:r>
            <a:r>
              <a:rPr spc="6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most</a:t>
            </a:r>
            <a:r>
              <a:rPr spc="-10" dirty="0"/>
              <a:t> </a:t>
            </a:r>
            <a:r>
              <a:rPr spc="-60" dirty="0"/>
              <a:t>successful</a:t>
            </a:r>
            <a:r>
              <a:rPr spc="15" dirty="0"/>
              <a:t> </a:t>
            </a:r>
            <a:r>
              <a:rPr spc="-50" dirty="0"/>
              <a:t>launches</a:t>
            </a:r>
            <a:r>
              <a:rPr spc="-35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any</a:t>
            </a:r>
            <a:r>
              <a:rPr spc="60" dirty="0"/>
              <a:t> </a:t>
            </a:r>
            <a:r>
              <a:rPr spc="-10" dirty="0"/>
              <a:t>sites.</a:t>
            </a:r>
          </a:p>
          <a:p>
            <a:pPr marL="241300" indent="-2286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41300" algn="l"/>
              </a:tabLst>
            </a:pPr>
            <a:r>
              <a:rPr spc="-70" dirty="0"/>
              <a:t>The</a:t>
            </a:r>
            <a:r>
              <a:rPr spc="15" dirty="0"/>
              <a:t> </a:t>
            </a:r>
            <a:r>
              <a:rPr spc="-30" dirty="0"/>
              <a:t>Decision</a:t>
            </a:r>
            <a:r>
              <a:rPr spc="25" dirty="0"/>
              <a:t> </a:t>
            </a:r>
            <a:r>
              <a:rPr dirty="0"/>
              <a:t>tree</a:t>
            </a:r>
            <a:r>
              <a:rPr spc="25" dirty="0"/>
              <a:t> </a:t>
            </a:r>
            <a:r>
              <a:rPr spc="-35" dirty="0"/>
              <a:t>classifier</a:t>
            </a:r>
            <a:r>
              <a:rPr spc="-10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best</a:t>
            </a:r>
            <a:r>
              <a:rPr spc="30" dirty="0"/>
              <a:t> </a:t>
            </a:r>
            <a:r>
              <a:rPr spc="-55" dirty="0"/>
              <a:t>machine</a:t>
            </a:r>
            <a:r>
              <a:rPr spc="-40" dirty="0"/>
              <a:t> </a:t>
            </a:r>
            <a:r>
              <a:rPr dirty="0"/>
              <a:t>learning</a:t>
            </a:r>
            <a:r>
              <a:rPr spc="35" dirty="0"/>
              <a:t> </a:t>
            </a:r>
            <a:r>
              <a:rPr dirty="0"/>
              <a:t>algorithm</a:t>
            </a:r>
            <a:r>
              <a:rPr spc="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this</a:t>
            </a:r>
            <a:r>
              <a:rPr spc="15" dirty="0"/>
              <a:t> </a:t>
            </a:r>
            <a:r>
              <a:rPr spc="-10" dirty="0"/>
              <a:t>task.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pc="60" dirty="0"/>
              <a:t>45</a:t>
            </a:fld>
            <a:endParaRPr spc="6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312" y="420624"/>
            <a:ext cx="241236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105" dirty="0"/>
              <a:t>Conclusions</a:t>
            </a:r>
            <a:endParaRPr sz="36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1957</Words>
  <Application>Microsoft Office PowerPoint</Application>
  <PresentationFormat>Widescreen</PresentationFormat>
  <Paragraphs>211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 MT</vt:lpstr>
      <vt:lpstr>Calibri</vt:lpstr>
      <vt:lpstr>Microsoft Sans Serif</vt:lpstr>
      <vt:lpstr>Trebuchet MS</vt:lpstr>
      <vt:lpstr>Office Theme</vt:lpstr>
      <vt:lpstr>PowerPoint Presentation</vt:lpstr>
      <vt:lpstr>Outline</vt:lpstr>
      <vt:lpstr>Executive Summary</vt:lpstr>
      <vt:lpstr>Introduction</vt:lpstr>
      <vt:lpstr>PowerPoint Presentation</vt:lpstr>
      <vt:lpstr>Methodology</vt:lpstr>
      <vt:lpstr>Data Collection</vt:lpstr>
      <vt:lpstr>Data Collection – SpaceX API</vt:lpstr>
      <vt:lpstr>Data Collection - Scraping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</vt:lpstr>
      <vt:lpstr>Insights drawn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All Launch Site Names</vt:lpstr>
      <vt:lpstr>Launch Site Names Begin with 'CCA'</vt:lpstr>
      <vt:lpstr>Total Payload Mass</vt:lpstr>
      <vt:lpstr>Average Payload Mass by F9 v1.1</vt:lpstr>
      <vt:lpstr>First Successful Ground Landing Date</vt:lpstr>
      <vt:lpstr>Successful Drone Ship Landing with Payload between 4000 and 6000</vt:lpstr>
      <vt:lpstr>Total Number of Successful and Failure Mission Outcomes</vt:lpstr>
      <vt:lpstr>Boosters Carried Maximum Payload</vt:lpstr>
      <vt:lpstr>2015 Launch Records</vt:lpstr>
      <vt:lpstr>Rank Landing Outcomes Between 2010-06-04 and 2017-03-20</vt:lpstr>
      <vt:lpstr>PowerPoint Presentation</vt:lpstr>
      <vt:lpstr>All launch sites global map markers</vt:lpstr>
      <vt:lpstr>Markers showing launch sites with color labels</vt:lpstr>
      <vt:lpstr>Launch Site distance to landmarks</vt:lpstr>
      <vt:lpstr>PowerPoint Presentation</vt:lpstr>
      <vt:lpstr>Pie chart showing the success percentage achieved by each launch site</vt:lpstr>
      <vt:lpstr>Pie chart showing the Launch site with the highest launch success ratio</vt:lpstr>
      <vt:lpstr>Scatter plot of Payload vs Launch Outcome for all sites, with different payload selected in the range slider</vt:lpstr>
      <vt:lpstr>PowerPoint Presentation</vt:lpstr>
      <vt:lpstr>Classification Accuracy</vt:lpstr>
      <vt:lpstr>Confusion Matrix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Sarthak Chauhan</dc:creator>
  <cp:lastModifiedBy>Sarthak Chauhan</cp:lastModifiedBy>
  <cp:revision>10</cp:revision>
  <dcterms:created xsi:type="dcterms:W3CDTF">2025-03-06T04:41:27Z</dcterms:created>
  <dcterms:modified xsi:type="dcterms:W3CDTF">2025-03-06T04:55:13Z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2024-06-27T00:00:00Z</vt:filetime>
  </property>
  <property fmtid="{D5CDD505-2E9C-101B-9397-08002B2CF9AE}" pid="3" name="LastSaved">
    <vt:filetime>2025-03-06T00:00:00Z</vt:filetime>
  </property>
</Properties>
</file>